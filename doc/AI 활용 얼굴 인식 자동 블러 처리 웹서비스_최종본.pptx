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7" r:id="rId7"/>
    <p:sldId id="266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83719" autoAdjust="0"/>
  </p:normalViewPr>
  <p:slideViewPr>
    <p:cSldViewPr snapToGrid="0" snapToObjects="1">
      <p:cViewPr varScale="1">
        <p:scale>
          <a:sx n="80" d="100"/>
          <a:sy n="80" d="100"/>
        </p:scale>
        <p:origin x="192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7071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정보보안학과 졸업 프로젝트 발표를 맡은 윤성빈입니다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저희는 </a:t>
            </a:r>
            <a:r>
              <a:rPr lang="en-US" altLang="ko-KR" dirty="0"/>
              <a:t>‘AI</a:t>
            </a:r>
            <a:r>
              <a:rPr lang="ko-KR" altLang="en-US" dirty="0"/>
              <a:t> 기반의 영상 얼굴 자동 </a:t>
            </a:r>
            <a:r>
              <a:rPr lang="ko-KR" altLang="en-US" dirty="0" err="1"/>
              <a:t>블러</a:t>
            </a:r>
            <a:r>
              <a:rPr lang="ko-KR" altLang="en-US" dirty="0"/>
              <a:t> 처리 웹서비스</a:t>
            </a:r>
            <a:r>
              <a:rPr lang="en-US" altLang="ko-KR" dirty="0"/>
              <a:t>’ </a:t>
            </a:r>
            <a:r>
              <a:rPr lang="ko-KR" altLang="en-US" dirty="0"/>
              <a:t>를 구현하는 프로젝트를 진행했는데요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왜 이 서비스를 만들게 되었는지</a:t>
            </a:r>
            <a:r>
              <a:rPr lang="en-US" altLang="ko-KR" dirty="0"/>
              <a:t>, </a:t>
            </a:r>
            <a:r>
              <a:rPr lang="ko-KR" altLang="en-US" dirty="0"/>
              <a:t>어떻게 작동하는지</a:t>
            </a:r>
            <a:r>
              <a:rPr lang="en-US" altLang="ko-KR" dirty="0"/>
              <a:t>, </a:t>
            </a:r>
            <a:r>
              <a:rPr lang="ko-KR" altLang="en-US" dirty="0"/>
              <a:t>그리고 어떻게 활용할 수 있는지에 대해서 이야기해보겠습니다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</a:t>
            </a:r>
            <a:r>
              <a:rPr lang="en-US" altLang="ko-KR" dirty="0"/>
              <a:t>, </a:t>
            </a:r>
            <a:r>
              <a:rPr lang="ko-KR" altLang="en-US" dirty="0"/>
              <a:t>저희 모두 일상에서 수많은 </a:t>
            </a:r>
            <a:r>
              <a:rPr lang="en-US" altLang="ko-KR" dirty="0"/>
              <a:t>CCTV</a:t>
            </a:r>
            <a:r>
              <a:rPr lang="ko-KR" altLang="en-US" dirty="0"/>
              <a:t>와 스마트폰 카메라에 노출되어 살아가고 있죠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그런데 이렇게 생성된 영상들이 한 번 세상에 나오면</a:t>
            </a:r>
            <a:r>
              <a:rPr lang="en-US" altLang="ko-KR" dirty="0"/>
              <a:t>,</a:t>
            </a:r>
            <a:r>
              <a:rPr lang="ko-KR" altLang="en-US" dirty="0"/>
              <a:t> 완벽하게 삭제하는 것이 거의 불가능에 가깝습니다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추가로 최근에는 혐오 영상이나 개인 사생활이 담긴 영상이 무분별하게 </a:t>
            </a:r>
            <a:r>
              <a:rPr lang="ko-KR" altLang="en-US" dirty="0" err="1"/>
              <a:t>퍼져나가기도</a:t>
            </a:r>
            <a:r>
              <a:rPr lang="ko-KR" altLang="en-US" dirty="0"/>
              <a:t> 하는데요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혐오적이거나</a:t>
            </a:r>
            <a:r>
              <a:rPr lang="ko-KR" altLang="en-US" dirty="0"/>
              <a:t> 갈등을 유발하는</a:t>
            </a:r>
            <a:r>
              <a:rPr lang="en-US" altLang="ko-KR" dirty="0"/>
              <a:t>, </a:t>
            </a:r>
            <a:r>
              <a:rPr lang="ko-KR" altLang="en-US" dirty="0"/>
              <a:t>그런 자극적인 콘텐츠들이 오히려 더 많은 </a:t>
            </a:r>
            <a:r>
              <a:rPr lang="en-US" altLang="ko-KR" dirty="0"/>
              <a:t>‘</a:t>
            </a:r>
            <a:r>
              <a:rPr lang="ko-KR" altLang="en-US" dirty="0"/>
              <a:t>좋아요</a:t>
            </a:r>
            <a:r>
              <a:rPr lang="en-US" altLang="ko-KR" dirty="0"/>
              <a:t>’</a:t>
            </a:r>
            <a:r>
              <a:rPr lang="ko-KR" altLang="en-US" dirty="0"/>
              <a:t>를 받고</a:t>
            </a:r>
            <a:r>
              <a:rPr lang="en-US" altLang="ko-KR" dirty="0"/>
              <a:t> </a:t>
            </a:r>
            <a:r>
              <a:rPr lang="ko-KR" altLang="en-US" dirty="0"/>
              <a:t>더 많이 공유되는 것이 지금의 현실이기도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그래서</a:t>
            </a:r>
            <a:r>
              <a:rPr lang="en-US" altLang="ko-KR" dirty="0"/>
              <a:t>, </a:t>
            </a:r>
            <a:r>
              <a:rPr lang="ko-KR" altLang="en-US" dirty="0"/>
              <a:t>영상 속의 개인정보를 </a:t>
            </a:r>
            <a:r>
              <a:rPr lang="en-US" altLang="ko-KR" dirty="0"/>
              <a:t>‘</a:t>
            </a:r>
            <a:r>
              <a:rPr lang="ko-KR" altLang="en-US" dirty="0"/>
              <a:t>비식별화</a:t>
            </a:r>
            <a:r>
              <a:rPr lang="en-US" altLang="ko-KR" dirty="0"/>
              <a:t>’</a:t>
            </a:r>
            <a:r>
              <a:rPr lang="ko-KR" altLang="en-US" dirty="0"/>
              <a:t>하는 것은 굉장히 중요한 일입니다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수작업으로 이 개인정보를 하나하나 </a:t>
            </a:r>
            <a:r>
              <a:rPr lang="ko-KR" altLang="en-US" dirty="0" err="1"/>
              <a:t>비식별화하는</a:t>
            </a:r>
            <a:r>
              <a:rPr lang="ko-KR" altLang="en-US" dirty="0"/>
              <a:t> 작업은 너무나 번거롭고</a:t>
            </a:r>
            <a:r>
              <a:rPr lang="en-US" altLang="ko-KR" dirty="0"/>
              <a:t> </a:t>
            </a:r>
            <a:r>
              <a:rPr lang="ko-KR" altLang="en-US" dirty="0"/>
              <a:t>또</a:t>
            </a:r>
            <a:r>
              <a:rPr lang="en-US" altLang="ko-KR" dirty="0"/>
              <a:t> </a:t>
            </a:r>
            <a:r>
              <a:rPr lang="ko-KR" altLang="en-US" dirty="0"/>
              <a:t>오랜 시간이 걸립니다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저희는 바로 이 지점에서</a:t>
            </a:r>
            <a:r>
              <a:rPr lang="en-US" altLang="ko-KR" dirty="0"/>
              <a:t>, ‘AI</a:t>
            </a:r>
            <a:r>
              <a:rPr lang="ko-KR" altLang="en-US" dirty="0"/>
              <a:t>를 활용하면 이 과정을 자동화할 수 있지 않을까</a:t>
            </a:r>
            <a:r>
              <a:rPr lang="en-US" altLang="ko-KR" dirty="0"/>
              <a:t>?’ </a:t>
            </a:r>
            <a:r>
              <a:rPr lang="ko-KR" altLang="en-US" dirty="0"/>
              <a:t>라는 아이디어를 바탕으로 이번 프로젝트를 시작하게 되었습니다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그래서 저희 프로젝트의 목표는 명확합니다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0" dirty="0"/>
              <a:t>바로</a:t>
            </a:r>
            <a:r>
              <a:rPr lang="en-US" altLang="ko-KR" b="0" dirty="0"/>
              <a:t>, </a:t>
            </a:r>
            <a:r>
              <a:rPr lang="en-US" altLang="ko-KR" b="1" dirty="0"/>
              <a:t>'</a:t>
            </a:r>
            <a:r>
              <a:rPr lang="ko-KR" altLang="en-US" b="1" dirty="0"/>
              <a:t>사용자가 영상을 올리기만 하면</a:t>
            </a:r>
            <a:r>
              <a:rPr lang="en-US" altLang="ko-KR" b="1" dirty="0"/>
              <a:t>, AI</a:t>
            </a:r>
            <a:r>
              <a:rPr lang="ko-KR" altLang="en-US" b="1" dirty="0"/>
              <a:t>가 알아서 얼굴을 찾고 자동으로 </a:t>
            </a:r>
            <a:r>
              <a:rPr lang="ko-KR" altLang="en-US" b="1" dirty="0" err="1"/>
              <a:t>블러</a:t>
            </a:r>
            <a:r>
              <a:rPr lang="ko-KR" altLang="en-US" b="1" dirty="0"/>
              <a:t> 처리해주는</a:t>
            </a:r>
            <a:r>
              <a:rPr lang="en-US" altLang="ko-KR" b="1" dirty="0"/>
              <a:t>,</a:t>
            </a:r>
            <a:r>
              <a:rPr lang="ko-KR" altLang="en-US" b="1" dirty="0"/>
              <a:t> 쉽고 빠른 웹 서비스를 만드는 것</a:t>
            </a:r>
            <a:r>
              <a:rPr lang="en-US" altLang="ko-KR" b="1" dirty="0"/>
              <a:t>'</a:t>
            </a:r>
            <a:r>
              <a:rPr lang="ko-KR" altLang="en-US" dirty="0"/>
              <a:t> 입니다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/>
              <a:t>이어서</a:t>
            </a:r>
            <a:r>
              <a:rPr lang="en-US" altLang="ko-KR" b="0" dirty="0"/>
              <a:t>, </a:t>
            </a:r>
            <a:r>
              <a:rPr lang="ko-KR" altLang="en-US" b="0" dirty="0"/>
              <a:t>서비스가 동작하는 전체적인 흐름을 한번 살펴보겠습니다</a:t>
            </a:r>
            <a:r>
              <a:rPr lang="en-US" altLang="ko-KR" b="0" dirty="0"/>
              <a:t>.</a:t>
            </a:r>
          </a:p>
          <a:p>
            <a:endParaRPr lang="en-US" altLang="ko-KR" b="0" dirty="0"/>
          </a:p>
          <a:p>
            <a:r>
              <a:rPr lang="ko-KR" altLang="en-US" b="0" dirty="0"/>
              <a:t>먼저</a:t>
            </a:r>
            <a:r>
              <a:rPr lang="en-US" altLang="ko-KR" b="0" dirty="0"/>
              <a:t>, </a:t>
            </a:r>
            <a:r>
              <a:rPr lang="ko-KR" altLang="en-US" b="0" dirty="0"/>
              <a:t>사용자가 웹 사이트에 접속해서 작업하려는 영상을 업로드합니다</a:t>
            </a:r>
            <a:r>
              <a:rPr lang="en-US" altLang="ko-KR" b="0" dirty="0"/>
              <a:t>.</a:t>
            </a:r>
          </a:p>
          <a:p>
            <a:endParaRPr lang="en-US" altLang="ko-KR" b="0" dirty="0"/>
          </a:p>
          <a:p>
            <a:r>
              <a:rPr lang="ko-KR" altLang="en-US" b="0" dirty="0"/>
              <a:t>그러면 서버에서는 영상의 프레임을 추출하고</a:t>
            </a:r>
            <a:r>
              <a:rPr lang="en-US" altLang="ko-KR" b="0" dirty="0"/>
              <a:t>, </a:t>
            </a:r>
            <a:r>
              <a:rPr lang="ko-KR" altLang="en-US" b="0" dirty="0"/>
              <a:t>영상 속에서 얼굴이 </a:t>
            </a:r>
            <a:r>
              <a:rPr lang="ko-KR" altLang="en-US" b="0" dirty="0" err="1"/>
              <a:t>어디있는지</a:t>
            </a:r>
            <a:r>
              <a:rPr lang="ko-KR" altLang="en-US" b="0" dirty="0"/>
              <a:t> 찾아냅니다</a:t>
            </a:r>
            <a:r>
              <a:rPr lang="en-US" altLang="ko-KR" b="0" dirty="0"/>
              <a:t>.</a:t>
            </a:r>
          </a:p>
          <a:p>
            <a:endParaRPr lang="en-US" altLang="ko-KR" b="0" dirty="0"/>
          </a:p>
          <a:p>
            <a:r>
              <a:rPr lang="ko-KR" altLang="en-US" b="0" dirty="0"/>
              <a:t>이 작업이 완료되면</a:t>
            </a:r>
            <a:r>
              <a:rPr lang="en-US" altLang="ko-KR" b="0" dirty="0"/>
              <a:t>, </a:t>
            </a:r>
            <a:r>
              <a:rPr lang="ko-KR" altLang="en-US" b="0" dirty="0"/>
              <a:t>사용자가 본인의 요구에 맞게 약간의 편집과 수정을 거치게 되고요</a:t>
            </a:r>
            <a:r>
              <a:rPr lang="en-US" altLang="ko-KR" b="0" dirty="0"/>
              <a:t>.</a:t>
            </a:r>
          </a:p>
          <a:p>
            <a:endParaRPr lang="en-US" altLang="ko-KR" b="0" dirty="0"/>
          </a:p>
          <a:p>
            <a:r>
              <a:rPr lang="ko-KR" altLang="en-US" b="0" dirty="0"/>
              <a:t>이 데이터들을 반영해서 </a:t>
            </a:r>
            <a:r>
              <a:rPr lang="ko-KR" altLang="en-US" b="0" dirty="0" err="1"/>
              <a:t>블러</a:t>
            </a:r>
            <a:r>
              <a:rPr lang="ko-KR" altLang="en-US" b="0" dirty="0"/>
              <a:t> 처리된 최종 영상을 만들어냅니다</a:t>
            </a:r>
            <a:r>
              <a:rPr lang="en-US" altLang="ko-KR" b="0" dirty="0"/>
              <a:t>.</a:t>
            </a:r>
          </a:p>
          <a:p>
            <a:endParaRPr lang="en-US" altLang="ko-KR" b="0" dirty="0"/>
          </a:p>
          <a:p>
            <a:r>
              <a:rPr lang="ko-KR" altLang="en-US" b="0" dirty="0"/>
              <a:t>그리고 마지막으로</a:t>
            </a:r>
            <a:r>
              <a:rPr lang="en-US" altLang="ko-KR" b="0" dirty="0"/>
              <a:t>, </a:t>
            </a:r>
            <a:r>
              <a:rPr lang="ko-KR" altLang="en-US" b="0" dirty="0"/>
              <a:t>사용자가 이 영상을 다운로드 받기만 하면 모든 과정이 끝납니다</a:t>
            </a:r>
            <a:r>
              <a:rPr lang="en-US" altLang="ko-KR" b="0" dirty="0"/>
              <a:t>.</a:t>
            </a:r>
          </a:p>
          <a:p>
            <a:endParaRPr lang="en-US" altLang="ko-KR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3C3DF-DA28-8FE7-444E-EAF5D938A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46129-780F-7187-EC0B-4A9A529B5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E8AE16-14FC-0DD7-AD85-CA8ED8968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저희가 구현한 주요 기능들에 대해서 설명해 드리겠습니다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서비스에서 가장 중요한 기능이죠</a:t>
            </a:r>
            <a:r>
              <a:rPr lang="en-US" altLang="ko-KR" dirty="0"/>
              <a:t>. ‘AI </a:t>
            </a:r>
            <a:r>
              <a:rPr lang="ko-KR" altLang="en-US" dirty="0"/>
              <a:t>기반 얼굴 탐지</a:t>
            </a:r>
            <a:r>
              <a:rPr lang="en-US" altLang="ko-KR" dirty="0"/>
              <a:t>’</a:t>
            </a:r>
            <a:r>
              <a:rPr lang="ko-KR" altLang="en-US" dirty="0"/>
              <a:t>와 </a:t>
            </a:r>
            <a:r>
              <a:rPr lang="en-US" altLang="ko-KR" dirty="0"/>
              <a:t>‘</a:t>
            </a:r>
            <a:r>
              <a:rPr lang="ko-KR" altLang="en-US" dirty="0"/>
              <a:t>자동 </a:t>
            </a:r>
            <a:r>
              <a:rPr lang="ko-KR" altLang="en-US" dirty="0" err="1"/>
              <a:t>블러</a:t>
            </a:r>
            <a:r>
              <a:rPr lang="ko-KR" altLang="en-US" dirty="0"/>
              <a:t> 처리</a:t>
            </a:r>
            <a:r>
              <a:rPr lang="en-US" altLang="ko-KR" dirty="0"/>
              <a:t>’</a:t>
            </a:r>
            <a:r>
              <a:rPr lang="ko-KR" altLang="en-US" dirty="0"/>
              <a:t> 기능인데요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옆에 기술 스택을 함께 보시면</a:t>
            </a:r>
            <a:r>
              <a:rPr lang="en-US" altLang="ko-KR" dirty="0"/>
              <a:t>, </a:t>
            </a:r>
            <a:r>
              <a:rPr lang="ko-KR" altLang="en-US" dirty="0"/>
              <a:t>먼저 영상에서 프레임을 추출하거나 프레임들을 합쳐 영상으로 만드는 </a:t>
            </a:r>
            <a:r>
              <a:rPr lang="en-US" altLang="ko-KR" dirty="0"/>
              <a:t>‘</a:t>
            </a:r>
            <a:r>
              <a:rPr lang="en-US" altLang="ko-KR" dirty="0" err="1"/>
              <a:t>FFmpeg</a:t>
            </a:r>
            <a:r>
              <a:rPr lang="en-US" altLang="ko-KR" dirty="0"/>
              <a:t>’</a:t>
            </a:r>
            <a:r>
              <a:rPr lang="ko-KR" altLang="en-US" dirty="0"/>
              <a:t>이라는</a:t>
            </a:r>
            <a:r>
              <a:rPr lang="en-US" altLang="ko-KR" dirty="0"/>
              <a:t> </a:t>
            </a:r>
            <a:r>
              <a:rPr lang="ko-KR" altLang="en-US" dirty="0"/>
              <a:t>라이브러리를 사용했습니다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</a:t>
            </a:r>
            <a:r>
              <a:rPr lang="ko-KR" altLang="en-US" dirty="0" err="1"/>
              <a:t>블러</a:t>
            </a:r>
            <a:r>
              <a:rPr lang="ko-KR" altLang="en-US" dirty="0"/>
              <a:t> 처리 같은 이미지 작업을 자유자재로 할 수 있게 도와주는 </a:t>
            </a:r>
            <a:r>
              <a:rPr lang="en-US" altLang="ko-KR" dirty="0"/>
              <a:t>OpenCV</a:t>
            </a:r>
            <a:r>
              <a:rPr lang="ko-KR" altLang="en-US" dirty="0"/>
              <a:t>를 이용했고요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이미지에서 객체를 탐지하는 </a:t>
            </a:r>
            <a:r>
              <a:rPr lang="en-US" altLang="ko-KR" dirty="0"/>
              <a:t>AI </a:t>
            </a:r>
            <a:r>
              <a:rPr lang="ko-KR" altLang="en-US" dirty="0"/>
              <a:t>모델인 </a:t>
            </a:r>
            <a:r>
              <a:rPr lang="en-US" altLang="ko-KR" dirty="0"/>
              <a:t>‘YOLO’, </a:t>
            </a:r>
            <a:r>
              <a:rPr lang="ko-KR" altLang="en-US" dirty="0"/>
              <a:t>그 중에서도 특히 얼굴 탐지에 특화된 모델을 사용해서 이 기능을 구현했습니다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</a:t>
            </a:r>
            <a:r>
              <a:rPr lang="en-US" altLang="ko-KR" dirty="0"/>
              <a:t>, </a:t>
            </a:r>
            <a:r>
              <a:rPr lang="ko-KR" altLang="en-US" dirty="0"/>
              <a:t>사용자가 간단한 편집을 할 수 있는 </a:t>
            </a:r>
            <a:r>
              <a:rPr lang="en-US" altLang="ko-KR" dirty="0"/>
              <a:t>UI </a:t>
            </a:r>
            <a:r>
              <a:rPr lang="ko-KR" altLang="en-US" dirty="0"/>
              <a:t>인터페이스는 기본적인 </a:t>
            </a:r>
            <a:r>
              <a:rPr lang="en-US" altLang="ko-KR" dirty="0"/>
              <a:t>HTML</a:t>
            </a:r>
            <a:r>
              <a:rPr lang="ko-KR" altLang="en-US" dirty="0"/>
              <a:t>과 </a:t>
            </a:r>
            <a:r>
              <a:rPr lang="en-US" altLang="ko-KR" dirty="0" err="1"/>
              <a:t>Javascript</a:t>
            </a:r>
            <a:r>
              <a:rPr lang="ko-KR" altLang="en-US" dirty="0"/>
              <a:t>로 만들었습니다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다음으로</a:t>
            </a:r>
            <a:r>
              <a:rPr lang="en-US" altLang="ko-KR" dirty="0"/>
              <a:t>, </a:t>
            </a:r>
            <a:r>
              <a:rPr lang="ko-KR" altLang="en-US" dirty="0"/>
              <a:t>영상 업로드</a:t>
            </a:r>
            <a:r>
              <a:rPr lang="en-US" altLang="ko-KR" dirty="0"/>
              <a:t>, </a:t>
            </a:r>
            <a:r>
              <a:rPr lang="ko-KR" altLang="en-US" dirty="0"/>
              <a:t>작업 시작 요청</a:t>
            </a:r>
            <a:r>
              <a:rPr lang="en-US" altLang="ko-KR" dirty="0"/>
              <a:t>, </a:t>
            </a:r>
            <a:r>
              <a:rPr lang="ko-KR" altLang="en-US" dirty="0"/>
              <a:t>작업 진행률 확인</a:t>
            </a:r>
            <a:r>
              <a:rPr lang="en-US" altLang="ko-KR" dirty="0"/>
              <a:t>, </a:t>
            </a:r>
            <a:r>
              <a:rPr lang="ko-KR" altLang="en-US" dirty="0"/>
              <a:t>탐지 데이터 처리</a:t>
            </a:r>
            <a:r>
              <a:rPr lang="en-US" altLang="ko-KR" dirty="0"/>
              <a:t>, </a:t>
            </a:r>
            <a:r>
              <a:rPr lang="ko-KR" altLang="en-US" dirty="0"/>
              <a:t>그리고 다운로드에 이르는 가능들은</a:t>
            </a:r>
            <a:endParaRPr lang="en-US" altLang="ko-KR" dirty="0"/>
          </a:p>
          <a:p>
            <a:r>
              <a:rPr lang="en-US" altLang="ko-KR" dirty="0"/>
              <a:t>Python </a:t>
            </a:r>
            <a:r>
              <a:rPr lang="ko-KR" altLang="en-US" dirty="0"/>
              <a:t>기반의 </a:t>
            </a:r>
            <a:r>
              <a:rPr lang="en-US" altLang="ko-KR" dirty="0"/>
              <a:t>‘Flask’</a:t>
            </a:r>
            <a:r>
              <a:rPr lang="ko-KR" altLang="en-US" dirty="0"/>
              <a:t>를 활용해서 </a:t>
            </a:r>
            <a:r>
              <a:rPr lang="en-US" altLang="ko-KR" dirty="0"/>
              <a:t>Rest API </a:t>
            </a:r>
            <a:r>
              <a:rPr lang="ko-KR" altLang="en-US" dirty="0"/>
              <a:t>웹서버로 구축했습니다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추가로 탐지 및 편집 데이터들을 저장하기 위해서는 가벼운 </a:t>
            </a:r>
            <a:r>
              <a:rPr lang="en-US" altLang="ko-KR" dirty="0"/>
              <a:t>SQLite</a:t>
            </a:r>
            <a:r>
              <a:rPr lang="ko-KR" altLang="en-US" dirty="0"/>
              <a:t>를 이용했습니다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91077-AEB2-1349-63A2-08E22C168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27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C3013-F8AC-9E75-C1FA-09F69A4DB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F2B6AF-5859-3977-5719-74D80F3BC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1B62D-B4DD-5DE4-57D2-79E2E7A16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/>
              <a:t>지금 보시는 이 화면이 바로 저희가 만든 서비스의 실제 모습입니다</a:t>
            </a:r>
            <a:r>
              <a:rPr lang="en-US" altLang="ko-KR" b="0" dirty="0"/>
              <a:t>.</a:t>
            </a:r>
          </a:p>
          <a:p>
            <a:r>
              <a:rPr lang="ko-KR" altLang="en-US" b="0" dirty="0"/>
              <a:t>이 화면은 </a:t>
            </a:r>
            <a:r>
              <a:rPr lang="en-US" altLang="ko-KR" b="0" dirty="0"/>
              <a:t>PPT </a:t>
            </a:r>
            <a:r>
              <a:rPr lang="ko-KR" altLang="en-US" b="0" dirty="0"/>
              <a:t>발표를 마치고</a:t>
            </a:r>
            <a:r>
              <a:rPr lang="en-US" altLang="ko-KR" b="0" dirty="0"/>
              <a:t>, </a:t>
            </a:r>
            <a:r>
              <a:rPr lang="ko-KR" altLang="en-US" b="0" dirty="0"/>
              <a:t>잠시 후</a:t>
            </a:r>
            <a:r>
              <a:rPr lang="en-US" altLang="ko-KR" b="0" dirty="0"/>
              <a:t> </a:t>
            </a:r>
            <a:r>
              <a:rPr lang="ko-KR" altLang="en-US" b="0" dirty="0"/>
              <a:t>직접 시연을 하면서 좀 더 자세히 살펴보도록 하겠습니다</a:t>
            </a:r>
            <a:r>
              <a:rPr lang="en-US" altLang="ko-KR" b="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E820F-C0CD-AB12-FB88-F1D9A451D8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49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서비스를 통해서 저희가 기대하는 효과는 크게 두 가지입니다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첫 째는</a:t>
            </a:r>
            <a:r>
              <a:rPr lang="en-US" altLang="ko-KR" dirty="0"/>
              <a:t>,</a:t>
            </a:r>
            <a:r>
              <a:rPr lang="ko-KR" altLang="en-US" dirty="0"/>
              <a:t> 시간 절약인데요</a:t>
            </a:r>
            <a:r>
              <a:rPr lang="en-US" altLang="ko-KR" dirty="0"/>
              <a:t>. </a:t>
            </a:r>
            <a:r>
              <a:rPr lang="ko-KR" altLang="en-US" dirty="0"/>
              <a:t>잠시 후 시연에서 얼마나 빠르게 작업이 진행되는지 직접 확인하실 수 있을 겁니다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 번째는 개인정보 보호 강화입니다</a:t>
            </a:r>
            <a:r>
              <a:rPr lang="en-US" altLang="ko-KR" dirty="0"/>
              <a:t>. SNS </a:t>
            </a:r>
            <a:r>
              <a:rPr lang="ko-KR" altLang="en-US" dirty="0"/>
              <a:t>등에 업로드하기 전에</a:t>
            </a:r>
            <a:r>
              <a:rPr lang="en-US" altLang="ko-KR" dirty="0"/>
              <a:t>, </a:t>
            </a:r>
            <a:r>
              <a:rPr lang="ko-KR" altLang="en-US" dirty="0"/>
              <a:t>쉽고 빠르게 사생활을 보호할 수 있어서 개인정보 노출 위험을 크게 줄일 수 있습니다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활용 분야에 대해서는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저희가 프로젝트의 주 사용자를 특정하지 않고</a:t>
            </a:r>
            <a:r>
              <a:rPr lang="en-US" altLang="ko-KR" dirty="0"/>
              <a:t>, </a:t>
            </a:r>
            <a:r>
              <a:rPr lang="ko-KR" altLang="en-US" dirty="0"/>
              <a:t>누구나 사용할 수 있도록 웹 서비스를 구축했기 때문에</a:t>
            </a:r>
            <a:endParaRPr lang="en-US" altLang="ko-KR" dirty="0"/>
          </a:p>
          <a:p>
            <a:r>
              <a:rPr lang="ko-KR" altLang="en-US" dirty="0"/>
              <a:t>말 그래도</a:t>
            </a:r>
            <a:r>
              <a:rPr lang="en-US" altLang="ko-KR" dirty="0"/>
              <a:t>, </a:t>
            </a:r>
            <a:r>
              <a:rPr lang="ko-KR" altLang="en-US" dirty="0"/>
              <a:t>누구나</a:t>
            </a:r>
            <a:r>
              <a:rPr lang="en-US" altLang="ko-KR" dirty="0"/>
              <a:t>, </a:t>
            </a:r>
            <a:r>
              <a:rPr lang="ko-KR" altLang="en-US" dirty="0"/>
              <a:t>언제든지 유용하게 활용할 수 있을 것입니다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네</a:t>
            </a:r>
            <a:r>
              <a:rPr lang="en-US" altLang="ko-KR" dirty="0"/>
              <a:t>, </a:t>
            </a:r>
            <a:r>
              <a:rPr lang="ko-KR" altLang="en-US" dirty="0"/>
              <a:t>그래서 저희는 결과적으로 자동화된 영상 개인정보 보호 시스템을 구현했고요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웹 기반 서비스를 제공해서 누구나 쉽게 사용할 수 있도록 만들었습니다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 앞으로는</a:t>
            </a:r>
            <a:r>
              <a:rPr lang="en-US" altLang="ko-KR" dirty="0"/>
              <a:t>, </a:t>
            </a:r>
            <a:r>
              <a:rPr lang="ko-KR" altLang="en-US" dirty="0"/>
              <a:t>얼굴 이외의 다른 개인정보 요소들</a:t>
            </a:r>
            <a:r>
              <a:rPr lang="en-US" altLang="ko-KR" dirty="0"/>
              <a:t>(</a:t>
            </a:r>
            <a:r>
              <a:rPr lang="ko-KR" altLang="en-US" dirty="0"/>
              <a:t>예를 들면 차량 번호판 같은</a:t>
            </a:r>
            <a:r>
              <a:rPr lang="en-US" altLang="ko-KR" dirty="0"/>
              <a:t>)</a:t>
            </a:r>
            <a:r>
              <a:rPr lang="ko-KR" altLang="en-US" dirty="0"/>
              <a:t>도 탐지해서 </a:t>
            </a:r>
            <a:r>
              <a:rPr lang="ko-KR" altLang="en-US" dirty="0" err="1"/>
              <a:t>블러</a:t>
            </a:r>
            <a:r>
              <a:rPr lang="ko-KR" altLang="en-US" dirty="0"/>
              <a:t> 처리하도록 확장하고 싶고요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</a:t>
            </a:r>
            <a:r>
              <a:rPr lang="en-US" altLang="ko-KR" dirty="0"/>
              <a:t>, </a:t>
            </a:r>
            <a:r>
              <a:rPr lang="ko-KR" altLang="en-US" dirty="0"/>
              <a:t>식별된 개인정보 요소들에 대해서 어떠한 종류인지 자동으로 분류하고 안내하는 기능을 추가하고 싶습니다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/>
              <a:t>이상으로</a:t>
            </a:r>
            <a:r>
              <a:rPr lang="en-US" altLang="ko-KR" b="0" dirty="0"/>
              <a:t>, ‘AI </a:t>
            </a:r>
            <a:r>
              <a:rPr lang="ko-KR" altLang="en-US" b="0" dirty="0"/>
              <a:t>기반 영상 얼굴 자동 </a:t>
            </a:r>
            <a:r>
              <a:rPr lang="ko-KR" altLang="en-US" b="0" dirty="0" err="1"/>
              <a:t>블러</a:t>
            </a:r>
            <a:r>
              <a:rPr lang="ko-KR" altLang="en-US" b="0" dirty="0"/>
              <a:t> 처리 웹서비스</a:t>
            </a:r>
            <a:r>
              <a:rPr lang="en-US" altLang="ko-KR" b="0" dirty="0"/>
              <a:t>’</a:t>
            </a:r>
            <a:r>
              <a:rPr lang="ko-KR" altLang="en-US" b="0" dirty="0"/>
              <a:t>에 대한 발표를 마치겠습니다</a:t>
            </a:r>
            <a:r>
              <a:rPr lang="en-US" altLang="ko-KR" b="0" dirty="0"/>
              <a:t>.</a:t>
            </a:r>
          </a:p>
          <a:p>
            <a:endParaRPr lang="en-US" b="0" dirty="0"/>
          </a:p>
          <a:p>
            <a:r>
              <a:rPr lang="ko-KR" altLang="en-US" b="0" dirty="0"/>
              <a:t>지금부터는 저희가 개발한 서비스를 직접</a:t>
            </a:r>
            <a:r>
              <a:rPr lang="en-US" altLang="ko-KR" b="0" dirty="0"/>
              <a:t> </a:t>
            </a:r>
            <a:r>
              <a:rPr lang="ko-KR" altLang="en-US" b="0" dirty="0"/>
              <a:t>보여드리는 시연을 진행하겠습니다</a:t>
            </a:r>
            <a:r>
              <a:rPr lang="en-US" altLang="ko-KR" b="0"/>
              <a:t>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10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11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10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11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" Type="http://schemas.openxmlformats.org/officeDocument/2006/relationships/image" Target="../media/image10.png"/><Relationship Id="rId21" Type="http://schemas.openxmlformats.org/officeDocument/2006/relationships/image" Target="../media/image68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1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26" Type="http://schemas.openxmlformats.org/officeDocument/2006/relationships/image" Target="../media/image92.png"/><Relationship Id="rId3" Type="http://schemas.openxmlformats.org/officeDocument/2006/relationships/image" Target="../media/image10.png"/><Relationship Id="rId21" Type="http://schemas.openxmlformats.org/officeDocument/2006/relationships/image" Target="../media/image87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5" Type="http://schemas.openxmlformats.org/officeDocument/2006/relationships/image" Target="../media/image9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24" Type="http://schemas.openxmlformats.org/officeDocument/2006/relationships/image" Target="../media/image90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23" Type="http://schemas.openxmlformats.org/officeDocument/2006/relationships/image" Target="../media/image89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11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Relationship Id="rId22" Type="http://schemas.openxmlformats.org/officeDocument/2006/relationships/image" Target="../media/image88.png"/><Relationship Id="rId27" Type="http://schemas.openxmlformats.org/officeDocument/2006/relationships/image" Target="../media/image9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5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3" Type="http://schemas.openxmlformats.org/officeDocument/2006/relationships/image" Target="../media/image96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4" Type="http://schemas.openxmlformats.org/officeDocument/2006/relationships/image" Target="../media/image11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3" Type="http://schemas.openxmlformats.org/officeDocument/2006/relationships/image" Target="../media/image10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17" Type="http://schemas.openxmlformats.org/officeDocument/2006/relationships/image" Target="../media/image124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10" Type="http://schemas.openxmlformats.org/officeDocument/2006/relationships/image" Target="../media/image117.png"/><Relationship Id="rId4" Type="http://schemas.openxmlformats.org/officeDocument/2006/relationships/image" Target="../media/image11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62.png"/><Relationship Id="rId3" Type="http://schemas.openxmlformats.org/officeDocument/2006/relationships/image" Target="../media/image10.png"/><Relationship Id="rId7" Type="http://schemas.openxmlformats.org/officeDocument/2006/relationships/image" Target="../media/image127.png"/><Relationship Id="rId12" Type="http://schemas.openxmlformats.org/officeDocument/2006/relationships/image" Target="../media/image1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11" Type="http://schemas.openxmlformats.org/officeDocument/2006/relationships/image" Target="../media/image59.png"/><Relationship Id="rId5" Type="http://schemas.openxmlformats.org/officeDocument/2006/relationships/image" Target="../media/image125.png"/><Relationship Id="rId15" Type="http://schemas.openxmlformats.org/officeDocument/2006/relationships/image" Target="../media/image132.png"/><Relationship Id="rId10" Type="http://schemas.openxmlformats.org/officeDocument/2006/relationships/image" Target="../media/image129.png"/><Relationship Id="rId4" Type="http://schemas.openxmlformats.org/officeDocument/2006/relationships/image" Target="../media/image11.png"/><Relationship Id="rId9" Type="http://schemas.openxmlformats.org/officeDocument/2006/relationships/image" Target="../media/image128.png"/><Relationship Id="rId14" Type="http://schemas.openxmlformats.org/officeDocument/2006/relationships/image" Target="../media/image1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181350" cy="2705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0" y="4705350"/>
            <a:ext cx="2438400" cy="2438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76250"/>
            <a:ext cx="2667000" cy="304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244" y="1257494"/>
            <a:ext cx="1866511" cy="186651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8117" y="3362617"/>
            <a:ext cx="2799767" cy="279976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1962150"/>
            <a:ext cx="8534400" cy="2933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6920" y="4133850"/>
            <a:ext cx="6096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5331" y="4133850"/>
            <a:ext cx="609600" cy="381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2209800" y="2511879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</a:t>
            </a:r>
            <a:r>
              <a:rPr lang="ko-KR" alt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기반 영상 얼굴</a:t>
            </a: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자동 </a:t>
            </a:r>
            <a:r>
              <a:rPr lang="en-US" sz="36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블러</a:t>
            </a: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36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처리</a:t>
            </a:r>
            <a:endParaRPr lang="en-US" sz="3600" b="1" dirty="0">
              <a:solidFill>
                <a:srgbClr val="1F2937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 algn="ctr">
              <a:buNone/>
            </a:pPr>
            <a:r>
              <a:rPr lang="en-US" sz="36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웹서비스</a:t>
            </a: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ko-KR" alt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구현</a:t>
            </a:r>
            <a:endParaRPr lang="en-US" sz="3600" dirty="0"/>
          </a:p>
        </p:txBody>
      </p:sp>
      <p:sp>
        <p:nvSpPr>
          <p:cNvPr id="15" name="Text 2"/>
          <p:cNvSpPr/>
          <p:nvPr/>
        </p:nvSpPr>
        <p:spPr>
          <a:xfrm>
            <a:off x="3555593" y="4019550"/>
            <a:ext cx="50808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/>
              <a:t>ICT</a:t>
            </a:r>
            <a:r>
              <a:rPr lang="ko-KR" altLang="en-US" sz="1500" dirty="0" err="1"/>
              <a:t>폴리텍대학</a:t>
            </a:r>
            <a:r>
              <a:rPr lang="ko-KR" altLang="en-US" sz="1500" dirty="0"/>
              <a:t> 조장 윤성빈</a:t>
            </a:r>
            <a:r>
              <a:rPr lang="en-US" altLang="ko-KR" sz="1500" dirty="0"/>
              <a:t>, </a:t>
            </a:r>
            <a:r>
              <a:rPr lang="ko-KR" altLang="en-US" sz="1500" dirty="0"/>
              <a:t>조원 </a:t>
            </a:r>
            <a:r>
              <a:rPr lang="ko-KR" altLang="en-US" sz="1500" dirty="0" err="1"/>
              <a:t>손임지</a:t>
            </a:r>
            <a:endParaRPr lang="en-US" sz="1500" dirty="0"/>
          </a:p>
        </p:txBody>
      </p:sp>
      <p:sp>
        <p:nvSpPr>
          <p:cNvPr id="11" name="Text 18">
            <a:extLst>
              <a:ext uri="{FF2B5EF4-FFF2-40B4-BE49-F238E27FC236}">
                <a16:creationId xmlns:a16="http://schemas.microsoft.com/office/drawing/2014/main" id="{4FD0E764-ADF4-9AD8-CF16-FE88C90B56A7}"/>
              </a:ext>
            </a:extLst>
          </p:cNvPr>
          <p:cNvSpPr/>
          <p:nvPr/>
        </p:nvSpPr>
        <p:spPr>
          <a:xfrm>
            <a:off x="9529316" y="6362700"/>
            <a:ext cx="26465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ICT폴리텍대학 2학년 | 졸업 프로젝트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171700"/>
            <a:ext cx="457200" cy="45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" y="2266950"/>
            <a:ext cx="190500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8575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" y="295275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5433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738" y="3638550"/>
            <a:ext cx="23812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2291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738" y="4324350"/>
            <a:ext cx="23812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217170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3663" y="2266950"/>
            <a:ext cx="21907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28575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7950" y="295275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35433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43663" y="3638550"/>
            <a:ext cx="21907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4229100"/>
            <a:ext cx="45720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57950" y="4324350"/>
            <a:ext cx="190500" cy="2667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457200" y="1333500"/>
            <a:ext cx="11277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발표에서는 "AI </a:t>
            </a:r>
            <a:r>
              <a:rPr lang="ko-KR" altLang="en-US" sz="13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 영상</a:t>
            </a:r>
            <a:r>
              <a:rPr lang="en-US" sz="13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50" dirty="0" err="1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얼굴</a:t>
            </a:r>
            <a:r>
              <a:rPr lang="en-US" sz="13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50" dirty="0" err="1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r>
              <a:rPr lang="en-US" sz="13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블러 처리 웹서비스"라는 졸업 프로젝트에 대해, 왜 이 서비스가 필요한지, 어떻게 작동하는지, 그리고 어떤 점이 좋은지 쉽고 빠르게 설명해 드리겠습니다.</a:t>
            </a:r>
            <a:endParaRPr lang="en-US" sz="1350" dirty="0"/>
          </a:p>
        </p:txBody>
      </p:sp>
      <p:sp>
        <p:nvSpPr>
          <p:cNvPr id="22" name="Text 2"/>
          <p:cNvSpPr/>
          <p:nvPr/>
        </p:nvSpPr>
        <p:spPr>
          <a:xfrm>
            <a:off x="1066800" y="2171700"/>
            <a:ext cx="29426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문제 정의 및 배경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066800" y="2438400"/>
            <a:ext cx="29426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내 개인정보 보호의 필요성과 문제점</a:t>
            </a:r>
            <a:endParaRPr lang="en-US" sz="1050" dirty="0"/>
          </a:p>
        </p:txBody>
      </p:sp>
      <p:sp>
        <p:nvSpPr>
          <p:cNvPr id="24" name="Text 4"/>
          <p:cNvSpPr/>
          <p:nvPr/>
        </p:nvSpPr>
        <p:spPr>
          <a:xfrm>
            <a:off x="1066800" y="2857500"/>
            <a:ext cx="17336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프로젝트 목표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1066800" y="3124200"/>
            <a:ext cx="17336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프로젝트의 핵심 목표</a:t>
            </a:r>
            <a:endParaRPr lang="en-US" sz="1050" dirty="0"/>
          </a:p>
        </p:txBody>
      </p:sp>
      <p:sp>
        <p:nvSpPr>
          <p:cNvPr id="26" name="Text 6"/>
          <p:cNvSpPr/>
          <p:nvPr/>
        </p:nvSpPr>
        <p:spPr>
          <a:xfrm>
            <a:off x="1066800" y="3543300"/>
            <a:ext cx="28069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서비스 소개: 시스템 개요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1066800" y="3810000"/>
            <a:ext cx="2806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흐름 및 주요 구성 요소</a:t>
            </a:r>
            <a:endParaRPr lang="en-US" sz="1050" dirty="0"/>
          </a:p>
        </p:txBody>
      </p:sp>
      <p:sp>
        <p:nvSpPr>
          <p:cNvPr id="28" name="Text 8"/>
          <p:cNvSpPr/>
          <p:nvPr/>
        </p:nvSpPr>
        <p:spPr>
          <a:xfrm>
            <a:off x="1066800" y="4229100"/>
            <a:ext cx="25656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주요 기능 및 기술 스택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1066800" y="4495800"/>
            <a:ext cx="25656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서비스의 주요 기능과 사용된 기술</a:t>
            </a:r>
            <a:endParaRPr lang="en-US" sz="1050" dirty="0"/>
          </a:p>
        </p:txBody>
      </p:sp>
      <p:sp>
        <p:nvSpPr>
          <p:cNvPr id="30" name="Text 10"/>
          <p:cNvSpPr/>
          <p:nvPr/>
        </p:nvSpPr>
        <p:spPr>
          <a:xfrm>
            <a:off x="6934200" y="2171700"/>
            <a:ext cx="20151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구현 화면</a:t>
            </a:r>
            <a:endParaRPr lang="en-US" sz="1500" dirty="0"/>
          </a:p>
        </p:txBody>
      </p:sp>
      <p:sp>
        <p:nvSpPr>
          <p:cNvPr id="31" name="Text 11"/>
          <p:cNvSpPr/>
          <p:nvPr/>
        </p:nvSpPr>
        <p:spPr>
          <a:xfrm>
            <a:off x="6934200" y="2438400"/>
            <a:ext cx="24181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서비스의 실제 인터페이스 및 기능</a:t>
            </a:r>
            <a:endParaRPr lang="en-US" sz="1050" dirty="0"/>
          </a:p>
        </p:txBody>
      </p:sp>
      <p:sp>
        <p:nvSpPr>
          <p:cNvPr id="32" name="Text 12"/>
          <p:cNvSpPr/>
          <p:nvPr/>
        </p:nvSpPr>
        <p:spPr>
          <a:xfrm>
            <a:off x="6934200" y="2857500"/>
            <a:ext cx="28271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기대 효과 및 활용 분야</a:t>
            </a:r>
            <a:endParaRPr lang="en-US" sz="1500" dirty="0"/>
          </a:p>
        </p:txBody>
      </p:sp>
      <p:sp>
        <p:nvSpPr>
          <p:cNvPr id="33" name="Text 13"/>
          <p:cNvSpPr/>
          <p:nvPr/>
        </p:nvSpPr>
        <p:spPr>
          <a:xfrm>
            <a:off x="6934200" y="3124200"/>
            <a:ext cx="28271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절약, 개인정보보호 및 활용 가능성</a:t>
            </a:r>
            <a:endParaRPr lang="en-US" sz="1050" dirty="0"/>
          </a:p>
        </p:txBody>
      </p:sp>
      <p:sp>
        <p:nvSpPr>
          <p:cNvPr id="34" name="Text 14"/>
          <p:cNvSpPr/>
          <p:nvPr/>
        </p:nvSpPr>
        <p:spPr>
          <a:xfrm>
            <a:off x="6934200" y="3543300"/>
            <a:ext cx="22581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 결론 및 향후 계획</a:t>
            </a:r>
            <a:endParaRPr lang="en-US" sz="1500" dirty="0"/>
          </a:p>
        </p:txBody>
      </p:sp>
      <p:sp>
        <p:nvSpPr>
          <p:cNvPr id="35" name="Text 15"/>
          <p:cNvSpPr/>
          <p:nvPr/>
        </p:nvSpPr>
        <p:spPr>
          <a:xfrm>
            <a:off x="6934200" y="3810000"/>
            <a:ext cx="22581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결과 요약과 미래 방향</a:t>
            </a:r>
            <a:endParaRPr lang="en-US" sz="1050" dirty="0"/>
          </a:p>
        </p:txBody>
      </p:sp>
      <p:sp>
        <p:nvSpPr>
          <p:cNvPr id="36" name="Text 16"/>
          <p:cNvSpPr/>
          <p:nvPr/>
        </p:nvSpPr>
        <p:spPr>
          <a:xfrm>
            <a:off x="6934200" y="4229100"/>
            <a:ext cx="237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 시연 안내</a:t>
            </a:r>
            <a:endParaRPr lang="en-US" sz="1500" dirty="0"/>
          </a:p>
        </p:txBody>
      </p:sp>
      <p:sp>
        <p:nvSpPr>
          <p:cNvPr id="37" name="Text 17"/>
          <p:cNvSpPr/>
          <p:nvPr/>
        </p:nvSpPr>
        <p:spPr>
          <a:xfrm>
            <a:off x="6934200" y="4495800"/>
            <a:ext cx="285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서비스의 실제 작동을 보여드리겠습니다</a:t>
            </a:r>
            <a:endParaRPr lang="en-US" sz="1050" dirty="0"/>
          </a:p>
        </p:txBody>
      </p:sp>
      <p:sp>
        <p:nvSpPr>
          <p:cNvPr id="38" name="Text 18"/>
          <p:cNvSpPr/>
          <p:nvPr/>
        </p:nvSpPr>
        <p:spPr>
          <a:xfrm>
            <a:off x="9529316" y="6362700"/>
            <a:ext cx="26465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ICT폴리텍대학 2학년 | 졸업 프로젝트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333500"/>
            <a:ext cx="381000" cy="381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" y="1390650"/>
            <a:ext cx="190500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943100"/>
            <a:ext cx="5486400" cy="76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1336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933700"/>
            <a:ext cx="5486400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124200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924300"/>
            <a:ext cx="5486400" cy="952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114800"/>
            <a:ext cx="1905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133350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43650" y="139065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1943100"/>
            <a:ext cx="5486400" cy="952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21336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3124200"/>
            <a:ext cx="5486400" cy="952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314700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4305300"/>
            <a:ext cx="5486400" cy="952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4495800"/>
            <a:ext cx="15240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 및 배경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990600" y="1371600"/>
            <a:ext cx="11735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876300" y="2095500"/>
            <a:ext cx="42747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개인정보보호의 어려움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876300" y="2362200"/>
            <a:ext cx="51297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수술실 영상 반출 시 수작업 블러 처리에 많은 시간과 노력이 낭비됩니다.</a:t>
            </a:r>
            <a:endParaRPr lang="en-US" sz="1050" dirty="0"/>
          </a:p>
        </p:txBody>
      </p:sp>
      <p:sp>
        <p:nvSpPr>
          <p:cNvPr id="24" name="Text 4"/>
          <p:cNvSpPr/>
          <p:nvPr/>
        </p:nvSpPr>
        <p:spPr>
          <a:xfrm>
            <a:off x="857250" y="3086100"/>
            <a:ext cx="4163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영구 삭제의 불가능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857250" y="3352800"/>
            <a:ext cx="49963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CCTV 영상이나 인터넷에 한번 올라간 영상은 영구 삭제가 어렵습니다.</a:t>
            </a:r>
            <a:endParaRPr lang="en-US" sz="1050" dirty="0"/>
          </a:p>
        </p:txBody>
      </p:sp>
      <p:sp>
        <p:nvSpPr>
          <p:cNvPr id="26" name="Text 6"/>
          <p:cNvSpPr/>
          <p:nvPr/>
        </p:nvSpPr>
        <p:spPr>
          <a:xfrm>
            <a:off x="914400" y="40767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사회적 이슈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914400" y="4343400"/>
            <a:ext cx="4876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혐오 논란 등 이슈 영상의 무분별한 공유가 발생하며, 일반 사용자들의 사생활 침해 방지 인식 부족이 심각합니다.</a:t>
            </a:r>
            <a:endParaRPr lang="en-US" sz="1050" dirty="0"/>
          </a:p>
        </p:txBody>
      </p:sp>
      <p:sp>
        <p:nvSpPr>
          <p:cNvPr id="28" name="Text 8"/>
          <p:cNvSpPr/>
          <p:nvPr/>
        </p:nvSpPr>
        <p:spPr>
          <a:xfrm>
            <a:off x="6781800" y="1371600"/>
            <a:ext cx="548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</a:t>
            </a:r>
            <a:endParaRPr lang="en-US" sz="1800" dirty="0"/>
          </a:p>
        </p:txBody>
      </p:sp>
      <p:sp>
        <p:nvSpPr>
          <p:cNvPr id="29" name="Text 9"/>
          <p:cNvSpPr/>
          <p:nvPr/>
        </p:nvSpPr>
        <p:spPr>
          <a:xfrm>
            <a:off x="6667500" y="20955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소요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6667500" y="2362200"/>
            <a:ext cx="4914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내 얼굴을 수작업으로 블러 처리하는 것은 매우 번거롭고 시간이 오래 걸립니다.</a:t>
            </a:r>
            <a:endParaRPr lang="en-US" sz="1050" dirty="0"/>
          </a:p>
        </p:txBody>
      </p:sp>
      <p:sp>
        <p:nvSpPr>
          <p:cNvPr id="31" name="Text 11"/>
          <p:cNvSpPr/>
          <p:nvPr/>
        </p:nvSpPr>
        <p:spPr>
          <a:xfrm>
            <a:off x="6705600" y="32766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솔루션의 필요성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6705600" y="3543300"/>
            <a:ext cx="4876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개인정보 보호는 필수적이지만, 수작업 편집은 매우 번거롭기 때문에 자동화된 솔루션의 필요성이 대두되었습니다.</a:t>
            </a:r>
            <a:endParaRPr lang="en-US" sz="1050" dirty="0"/>
          </a:p>
        </p:txBody>
      </p:sp>
      <p:sp>
        <p:nvSpPr>
          <p:cNvPr id="33" name="Text 13"/>
          <p:cNvSpPr/>
          <p:nvPr/>
        </p:nvSpPr>
        <p:spPr>
          <a:xfrm>
            <a:off x="6667500" y="44577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기술의 활용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6667500" y="4724400"/>
            <a:ext cx="4914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기술을 활용한 자동 얼굴 탐지 및 블러 처리는 시간 효율성을 높일 수 있는 가능성을 제공합니다.</a:t>
            </a:r>
            <a:endParaRPr lang="en-US" sz="1050" dirty="0"/>
          </a:p>
        </p:txBody>
      </p:sp>
      <p:sp>
        <p:nvSpPr>
          <p:cNvPr id="35" name="Text 15"/>
          <p:cNvSpPr/>
          <p:nvPr/>
        </p:nvSpPr>
        <p:spPr>
          <a:xfrm>
            <a:off x="-670560" y="5562600"/>
            <a:ext cx="1353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"개인정보 보호의 중요성이 증대됨에 따라 영상 내 개인정보(특히 얼굴) 보호에 대한 필요성이 커지고 있습니다."</a:t>
            </a:r>
            <a:endParaRPr lang="en-US" sz="1200" dirty="0"/>
          </a:p>
        </p:txBody>
      </p:sp>
      <p:sp>
        <p:nvSpPr>
          <p:cNvPr id="36" name="Text 16"/>
          <p:cNvSpPr/>
          <p:nvPr/>
        </p:nvSpPr>
        <p:spPr>
          <a:xfrm>
            <a:off x="9529316" y="6362700"/>
            <a:ext cx="26465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ICT폴리텍대학 2학년 | 졸업 프로젝트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171700"/>
            <a:ext cx="5524500" cy="1257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400300"/>
            <a:ext cx="457200" cy="5429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5146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171700"/>
            <a:ext cx="5524500" cy="1257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2400300"/>
            <a:ext cx="457200" cy="5429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25146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657600"/>
            <a:ext cx="5524500" cy="1257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886200"/>
            <a:ext cx="457200" cy="5429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40005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3657600"/>
            <a:ext cx="5524500" cy="1257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3886200"/>
            <a:ext cx="457200" cy="5429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40005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5143500"/>
            <a:ext cx="11277600" cy="1028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5372100"/>
            <a:ext cx="457200" cy="54292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5486400"/>
            <a:ext cx="228600" cy="3048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목표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457200" y="1333500"/>
            <a:ext cx="11277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프로젝트의 핵심 목표는 사용자가 영상을 업로드하면 AI 기반 얼굴 탐지 및 블러 처리가 자동으로 이루어지는 웹 서비스를 제공하는 것입니다.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1295400" y="2400300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기반 영상 업로드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1295400" y="27432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쉽게 영상을 웹 인터페이스를 통해 업로드할 수 있는 기능 제공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7048500" y="2400300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얼굴 탐지</a:t>
            </a:r>
            <a:endParaRPr lang="en-US" sz="1500" dirty="0"/>
          </a:p>
        </p:txBody>
      </p:sp>
      <p:sp>
        <p:nvSpPr>
          <p:cNvPr id="24" name="Text 5"/>
          <p:cNvSpPr/>
          <p:nvPr/>
        </p:nvSpPr>
        <p:spPr>
          <a:xfrm>
            <a:off x="7048500" y="27432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업로드된 영상에서 AI 기술을 활용하여 자동으로 얼굴을 탐지하는 기능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1295400" y="3886200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블러 처리</a:t>
            </a:r>
            <a:endParaRPr lang="en-US" sz="1500" dirty="0"/>
          </a:p>
        </p:txBody>
      </p:sp>
      <p:sp>
        <p:nvSpPr>
          <p:cNvPr id="26" name="Text 7"/>
          <p:cNvSpPr/>
          <p:nvPr/>
        </p:nvSpPr>
        <p:spPr>
          <a:xfrm>
            <a:off x="1295400" y="42291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탐지된 얼굴에 대해 자동으로 블러 처리를 적용하여 개인정보를 보호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7048500" y="3886200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편집 기능</a:t>
            </a:r>
            <a:endParaRPr lang="en-US" sz="1500" dirty="0"/>
          </a:p>
        </p:txBody>
      </p:sp>
      <p:sp>
        <p:nvSpPr>
          <p:cNvPr id="28" name="Text 9"/>
          <p:cNvSpPr/>
          <p:nvPr/>
        </p:nvSpPr>
        <p:spPr>
          <a:xfrm>
            <a:off x="7048500" y="42291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블러 처리된 얼굴을 선택적으로 해제하거나 추가할 수 있는 편집 UI 제공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1295400" y="5372100"/>
            <a:ext cx="50800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영상 다운로드</a:t>
            </a:r>
            <a:endParaRPr lang="en-US" sz="1500" dirty="0"/>
          </a:p>
        </p:txBody>
      </p:sp>
      <p:sp>
        <p:nvSpPr>
          <p:cNvPr id="30" name="Text 11"/>
          <p:cNvSpPr/>
          <p:nvPr/>
        </p:nvSpPr>
        <p:spPr>
          <a:xfrm>
            <a:off x="1295400" y="5715000"/>
            <a:ext cx="60961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블러 처리 및 편집이 완료된 최종 영상을 쉽게 다운로드할 수 있는 기능 제공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9529316" y="6362700"/>
            <a:ext cx="26465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ICT폴리텍대학 2학년 | 졸업 프로젝트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714500"/>
            <a:ext cx="2133600" cy="1638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1866900"/>
            <a:ext cx="53340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700" y="19812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0" y="1714500"/>
            <a:ext cx="2133600" cy="1638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3300" y="1866900"/>
            <a:ext cx="533400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95700" y="19812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714500"/>
            <a:ext cx="2133600" cy="1638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29300" y="1866900"/>
            <a:ext cx="533400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81700" y="19812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714500"/>
            <a:ext cx="2133600" cy="1638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15300" y="1866900"/>
            <a:ext cx="533400" cy="533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67700" y="19812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1714500"/>
            <a:ext cx="2133600" cy="1638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01300" y="1866900"/>
            <a:ext cx="533400" cy="533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53700" y="19812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4114800"/>
            <a:ext cx="11277600" cy="2171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" y="4305300"/>
            <a:ext cx="3479750" cy="1028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4514850"/>
            <a:ext cx="1905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56050" y="4305300"/>
            <a:ext cx="3479750" cy="1028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08450" y="4514850"/>
            <a:ext cx="1714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64401" y="4305300"/>
            <a:ext cx="3479899" cy="1028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16801" y="4514850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" y="5486400"/>
            <a:ext cx="10896600" cy="6096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소개: 시스템 개요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457200" y="1257300"/>
            <a:ext cx="1127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흐름 (5단계)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866611" y="2514600"/>
            <a:ext cx="13146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영상 업로드</a:t>
            </a:r>
            <a:endParaRPr lang="en-US" sz="1350" dirty="0"/>
          </a:p>
        </p:txBody>
      </p:sp>
      <p:sp>
        <p:nvSpPr>
          <p:cNvPr id="30" name="Text 3"/>
          <p:cNvSpPr/>
          <p:nvPr/>
        </p:nvSpPr>
        <p:spPr>
          <a:xfrm>
            <a:off x="609600" y="2819400"/>
            <a:ext cx="182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웹 서비스에 영상을 업로드</a:t>
            </a:r>
            <a:endParaRPr lang="en-US" sz="1050" dirty="0"/>
          </a:p>
        </p:txBody>
      </p:sp>
      <p:sp>
        <p:nvSpPr>
          <p:cNvPr id="31" name="Text 4"/>
          <p:cNvSpPr/>
          <p:nvPr/>
        </p:nvSpPr>
        <p:spPr>
          <a:xfrm>
            <a:off x="3255481" y="2514600"/>
            <a:ext cx="11088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서버 처리</a:t>
            </a:r>
            <a:endParaRPr lang="en-US" sz="1350" dirty="0"/>
          </a:p>
        </p:txBody>
      </p:sp>
      <p:sp>
        <p:nvSpPr>
          <p:cNvPr id="32" name="Text 5"/>
          <p:cNvSpPr/>
          <p:nvPr/>
        </p:nvSpPr>
        <p:spPr>
          <a:xfrm>
            <a:off x="2895600" y="2819400"/>
            <a:ext cx="182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서버에서 프레임 추출 및 얼굴 탐지</a:t>
            </a:r>
            <a:endParaRPr lang="en-US" sz="1050" dirty="0"/>
          </a:p>
        </p:txBody>
      </p:sp>
      <p:sp>
        <p:nvSpPr>
          <p:cNvPr id="33" name="Text 6"/>
          <p:cNvSpPr/>
          <p:nvPr/>
        </p:nvSpPr>
        <p:spPr>
          <a:xfrm>
            <a:off x="5644351" y="2514600"/>
            <a:ext cx="9031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UI 편집</a:t>
            </a:r>
            <a:endParaRPr lang="en-US" sz="1350" dirty="0"/>
          </a:p>
        </p:txBody>
      </p:sp>
      <p:sp>
        <p:nvSpPr>
          <p:cNvPr id="34" name="Text 7"/>
          <p:cNvSpPr/>
          <p:nvPr/>
        </p:nvSpPr>
        <p:spPr>
          <a:xfrm>
            <a:off x="5126950" y="2819400"/>
            <a:ext cx="19380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UI에서 블러 처리 여부 수정</a:t>
            </a:r>
            <a:endParaRPr lang="en-US" sz="1050" dirty="0"/>
          </a:p>
        </p:txBody>
      </p:sp>
      <p:sp>
        <p:nvSpPr>
          <p:cNvPr id="35" name="Text 8"/>
          <p:cNvSpPr/>
          <p:nvPr/>
        </p:nvSpPr>
        <p:spPr>
          <a:xfrm>
            <a:off x="7593166" y="2514600"/>
            <a:ext cx="15775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최종 영상 생성</a:t>
            </a:r>
            <a:endParaRPr lang="en-US" sz="1350" dirty="0"/>
          </a:p>
        </p:txBody>
      </p:sp>
      <p:sp>
        <p:nvSpPr>
          <p:cNvPr id="36" name="Text 9"/>
          <p:cNvSpPr/>
          <p:nvPr/>
        </p:nvSpPr>
        <p:spPr>
          <a:xfrm>
            <a:off x="7390641" y="2819400"/>
            <a:ext cx="19825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블러 처리 후 최종 영상 생성</a:t>
            </a:r>
            <a:endParaRPr lang="en-US" sz="1050" dirty="0"/>
          </a:p>
        </p:txBody>
      </p:sp>
      <p:sp>
        <p:nvSpPr>
          <p:cNvPr id="37" name="Text 10"/>
          <p:cNvSpPr/>
          <p:nvPr/>
        </p:nvSpPr>
        <p:spPr>
          <a:xfrm>
            <a:off x="10142056" y="2514600"/>
            <a:ext cx="10517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다운로드</a:t>
            </a:r>
            <a:endParaRPr lang="en-US" sz="1350" dirty="0"/>
          </a:p>
        </p:txBody>
      </p:sp>
      <p:sp>
        <p:nvSpPr>
          <p:cNvPr id="38" name="Text 11"/>
          <p:cNvSpPr/>
          <p:nvPr/>
        </p:nvSpPr>
        <p:spPr>
          <a:xfrm>
            <a:off x="9753600" y="2819400"/>
            <a:ext cx="182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최종 영상을 다운로드</a:t>
            </a:r>
            <a:endParaRPr lang="en-US" sz="1050" dirty="0"/>
          </a:p>
        </p:txBody>
      </p:sp>
      <p:sp>
        <p:nvSpPr>
          <p:cNvPr id="39" name="Text 12"/>
          <p:cNvSpPr/>
          <p:nvPr/>
        </p:nvSpPr>
        <p:spPr>
          <a:xfrm>
            <a:off x="457200" y="3657600"/>
            <a:ext cx="1127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구성</a:t>
            </a:r>
            <a:endParaRPr lang="en-US" sz="1800" dirty="0"/>
          </a:p>
        </p:txBody>
      </p:sp>
      <p:sp>
        <p:nvSpPr>
          <p:cNvPr id="40" name="Text 13"/>
          <p:cNvSpPr/>
          <p:nvPr/>
        </p:nvSpPr>
        <p:spPr>
          <a:xfrm>
            <a:off x="1066800" y="4457700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</a:t>
            </a:r>
            <a:endParaRPr lang="en-US" sz="1350" dirty="0"/>
          </a:p>
        </p:txBody>
      </p:sp>
      <p:sp>
        <p:nvSpPr>
          <p:cNvPr id="41" name="Text 14"/>
          <p:cNvSpPr/>
          <p:nvPr/>
        </p:nvSpPr>
        <p:spPr>
          <a:xfrm>
            <a:off x="800100" y="4800600"/>
            <a:ext cx="3174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HTML/JS 기술로 구성된 웹 인터페이스. 영상 </a:t>
            </a:r>
            <a:r>
              <a:rPr lang="en-US" sz="1050" dirty="0" err="1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표시</a:t>
            </a: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UI 편집 기능을 제공합니다.</a:t>
            </a:r>
            <a:endParaRPr lang="en-US" sz="1050" dirty="0"/>
          </a:p>
        </p:txBody>
      </p:sp>
      <p:sp>
        <p:nvSpPr>
          <p:cNvPr id="42" name="Text 15"/>
          <p:cNvSpPr/>
          <p:nvPr/>
        </p:nvSpPr>
        <p:spPr>
          <a:xfrm>
            <a:off x="4756100" y="4457700"/>
            <a:ext cx="8802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처리</a:t>
            </a:r>
            <a:endParaRPr lang="en-US" sz="1350" dirty="0"/>
          </a:p>
        </p:txBody>
      </p:sp>
      <p:sp>
        <p:nvSpPr>
          <p:cNvPr id="43" name="Text 16"/>
          <p:cNvSpPr/>
          <p:nvPr/>
        </p:nvSpPr>
        <p:spPr>
          <a:xfrm>
            <a:off x="4508450" y="4800600"/>
            <a:ext cx="3174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OpenCV, FFmpeg, YOLO 기술로 얼굴 탐지 및 블러 처리를 수행합니다.</a:t>
            </a:r>
            <a:endParaRPr lang="en-US" sz="1050" dirty="0"/>
          </a:p>
        </p:txBody>
      </p:sp>
      <p:sp>
        <p:nvSpPr>
          <p:cNvPr id="44" name="Text 17"/>
          <p:cNvSpPr/>
          <p:nvPr/>
        </p:nvSpPr>
        <p:spPr>
          <a:xfrm>
            <a:off x="8426351" y="4457700"/>
            <a:ext cx="21147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&amp; 데이터베이스</a:t>
            </a:r>
            <a:endParaRPr lang="en-US" sz="1350" dirty="0"/>
          </a:p>
        </p:txBody>
      </p:sp>
      <p:sp>
        <p:nvSpPr>
          <p:cNvPr id="45" name="Text 18"/>
          <p:cNvSpPr/>
          <p:nvPr/>
        </p:nvSpPr>
        <p:spPr>
          <a:xfrm>
            <a:off x="8216801" y="4800600"/>
            <a:ext cx="31750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Python, Flask 서버와 SQLite 데이터베이스로 로그 관리 및 Job, Detection, Edit 기능을 구현합니다.</a:t>
            </a:r>
            <a:endParaRPr lang="en-US" sz="1050" dirty="0"/>
          </a:p>
        </p:txBody>
      </p:sp>
      <p:sp>
        <p:nvSpPr>
          <p:cNvPr id="46" name="Text 19"/>
          <p:cNvSpPr/>
          <p:nvPr/>
        </p:nvSpPr>
        <p:spPr>
          <a:xfrm>
            <a:off x="9529316" y="6362700"/>
            <a:ext cx="26465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ICT폴리텍대학 2학년 | 졸업 프로젝트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9FA28B-50B0-6745-2123-596946834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5F0541B-E4C3-39BF-3CEC-528F83FC2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A92529C4-E99A-99B9-BE32-DCC9015AD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5C59A58E-1F2D-4740-CDB2-C47C58E064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57300"/>
            <a:ext cx="5486400" cy="38481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BE7EA9D9-5EEB-3CE8-71FA-42F6D6435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47800"/>
            <a:ext cx="257175" cy="22860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C31BB225-2A7D-6E82-AC2B-F551F2B227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9050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FCF7CAFE-3DE9-4633-7F8F-278C2FB92A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20193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68610DE6-FF5A-96F9-216E-3A68E54FF2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533900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E07373DA-DDD0-743B-3377-1AA2A57CF4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46482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C776ABD6-AF52-BCEC-432C-6DED6C9E4B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1257300"/>
            <a:ext cx="5486400" cy="4076700"/>
          </a:xfrm>
          <a:prstGeom prst="rect">
            <a:avLst/>
          </a:prstGeom>
        </p:spPr>
      </p:pic>
      <p:pic>
        <p:nvPicPr>
          <p:cNvPr id="16" name="Image 14" descr="preencoded.png">
            <a:extLst>
              <a:ext uri="{FF2B5EF4-FFF2-40B4-BE49-F238E27FC236}">
                <a16:creationId xmlns:a16="http://schemas.microsoft.com/office/drawing/2014/main" id="{FA1E3065-5199-5A63-1B7F-B2BF5A9F9B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447800"/>
            <a:ext cx="285750" cy="228600"/>
          </a:xfrm>
          <a:prstGeom prst="rect">
            <a:avLst/>
          </a:prstGeom>
        </p:spPr>
      </p:pic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11E593A5-0284-A167-15EF-C60A5222212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1866900"/>
            <a:ext cx="2514600" cy="1143000"/>
          </a:xfrm>
          <a:prstGeom prst="rect">
            <a:avLst/>
          </a:prstGeom>
        </p:spPr>
      </p:pic>
      <p:pic>
        <p:nvPicPr>
          <p:cNvPr id="18" name="Image 16" descr="preencoded.png">
            <a:extLst>
              <a:ext uri="{FF2B5EF4-FFF2-40B4-BE49-F238E27FC236}">
                <a16:creationId xmlns:a16="http://schemas.microsoft.com/office/drawing/2014/main" id="{4BF727EE-B6D7-F7EA-BE0C-9FEC605B151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2028825"/>
            <a:ext cx="219075" cy="17145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59C64D9C-1E0F-6423-A932-2EAD6F7C7C4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67800" y="1866900"/>
            <a:ext cx="2514600" cy="1143000"/>
          </a:xfrm>
          <a:prstGeom prst="rect">
            <a:avLst/>
          </a:prstGeom>
        </p:spPr>
      </p:pic>
      <p:pic>
        <p:nvPicPr>
          <p:cNvPr id="20" name="Image 18" descr="preencoded.png">
            <a:extLst>
              <a:ext uri="{FF2B5EF4-FFF2-40B4-BE49-F238E27FC236}">
                <a16:creationId xmlns:a16="http://schemas.microsoft.com/office/drawing/2014/main" id="{6D0D4C98-5E5F-F317-1F29-C8346D130E4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2100" y="2028825"/>
            <a:ext cx="190500" cy="171450"/>
          </a:xfrm>
          <a:prstGeom prst="rect">
            <a:avLst/>
          </a:prstGeom>
        </p:spPr>
      </p:pic>
      <p:pic>
        <p:nvPicPr>
          <p:cNvPr id="21" name="Image 19" descr="preencoded.png">
            <a:extLst>
              <a:ext uri="{FF2B5EF4-FFF2-40B4-BE49-F238E27FC236}">
                <a16:creationId xmlns:a16="http://schemas.microsoft.com/office/drawing/2014/main" id="{AAAEF44F-945D-B2A4-C1CB-E64A58D01B5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3162300"/>
            <a:ext cx="2514600" cy="1143000"/>
          </a:xfrm>
          <a:prstGeom prst="rect">
            <a:avLst/>
          </a:prstGeom>
        </p:spPr>
      </p:pic>
      <p:pic>
        <p:nvPicPr>
          <p:cNvPr id="22" name="Image 20" descr="preencoded.png">
            <a:extLst>
              <a:ext uri="{FF2B5EF4-FFF2-40B4-BE49-F238E27FC236}">
                <a16:creationId xmlns:a16="http://schemas.microsoft.com/office/drawing/2014/main" id="{18EF5EC3-B939-CF97-7E94-6F742A097C0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15100" y="3324225"/>
            <a:ext cx="171450" cy="171450"/>
          </a:xfrm>
          <a:prstGeom prst="rect">
            <a:avLst/>
          </a:prstGeom>
        </p:spPr>
      </p:pic>
      <p:pic>
        <p:nvPicPr>
          <p:cNvPr id="23" name="Image 21" descr="preencoded.png">
            <a:extLst>
              <a:ext uri="{FF2B5EF4-FFF2-40B4-BE49-F238E27FC236}">
                <a16:creationId xmlns:a16="http://schemas.microsoft.com/office/drawing/2014/main" id="{E2E36A0A-691A-CD76-8BD0-7ABB111F1B4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67800" y="3162300"/>
            <a:ext cx="2514600" cy="1143000"/>
          </a:xfrm>
          <a:prstGeom prst="rect">
            <a:avLst/>
          </a:prstGeom>
        </p:spPr>
      </p:pic>
      <p:pic>
        <p:nvPicPr>
          <p:cNvPr id="24" name="Image 22" descr="preencoded.png">
            <a:extLst>
              <a:ext uri="{FF2B5EF4-FFF2-40B4-BE49-F238E27FC236}">
                <a16:creationId xmlns:a16="http://schemas.microsoft.com/office/drawing/2014/main" id="{7E26BBBB-F15B-97AF-1C73-6751306DC77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82100" y="3324225"/>
            <a:ext cx="152400" cy="171450"/>
          </a:xfrm>
          <a:prstGeom prst="rect">
            <a:avLst/>
          </a:prstGeom>
        </p:spPr>
      </p:pic>
      <p:pic>
        <p:nvPicPr>
          <p:cNvPr id="25" name="Image 23" descr="preencoded.png">
            <a:extLst>
              <a:ext uri="{FF2B5EF4-FFF2-40B4-BE49-F238E27FC236}">
                <a16:creationId xmlns:a16="http://schemas.microsoft.com/office/drawing/2014/main" id="{577E09F0-35FD-97BF-7877-9DF7864B7AD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00800" y="4495800"/>
            <a:ext cx="5181600" cy="609600"/>
          </a:xfrm>
          <a:prstGeom prst="rect">
            <a:avLst/>
          </a:prstGeom>
        </p:spPr>
      </p:pic>
      <p:pic>
        <p:nvPicPr>
          <p:cNvPr id="26" name="Image 24" descr="preencoded.png">
            <a:extLst>
              <a:ext uri="{FF2B5EF4-FFF2-40B4-BE49-F238E27FC236}">
                <a16:creationId xmlns:a16="http://schemas.microsoft.com/office/drawing/2014/main" id="{9792B75C-601E-A24B-BD1F-175CDF96CB4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15100" y="4733925"/>
            <a:ext cx="104775" cy="133350"/>
          </a:xfrm>
          <a:prstGeom prst="rect">
            <a:avLst/>
          </a:prstGeom>
        </p:spPr>
      </p:pic>
      <p:sp>
        <p:nvSpPr>
          <p:cNvPr id="27" name="Text 0">
            <a:extLst>
              <a:ext uri="{FF2B5EF4-FFF2-40B4-BE49-F238E27FC236}">
                <a16:creationId xmlns:a16="http://schemas.microsoft.com/office/drawing/2014/main" id="{C499092F-6909-51DD-820D-8545F0B8799B}"/>
              </a:ext>
            </a:extLst>
          </p:cNvPr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및 기술 스택</a:t>
            </a:r>
            <a:endParaRPr lang="en-US" sz="270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86358D0F-E15B-FDFC-0241-1EF4B878EC86}"/>
              </a:ext>
            </a:extLst>
          </p:cNvPr>
          <p:cNvSpPr/>
          <p:nvPr/>
        </p:nvSpPr>
        <p:spPr>
          <a:xfrm>
            <a:off x="981075" y="1409700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</a:t>
            </a:r>
            <a:endParaRPr lang="en-US" sz="1800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69E404AD-C91F-B3F0-2A35-7380345747B8}"/>
              </a:ext>
            </a:extLst>
          </p:cNvPr>
          <p:cNvSpPr/>
          <p:nvPr/>
        </p:nvSpPr>
        <p:spPr>
          <a:xfrm>
            <a:off x="1104900" y="1866900"/>
            <a:ext cx="40229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얼굴 탐지</a:t>
            </a:r>
            <a:endParaRPr lang="en-US" sz="1350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BCE433F3-25C4-09FE-2760-6AC999C83DBA}"/>
              </a:ext>
            </a:extLst>
          </p:cNvPr>
          <p:cNvSpPr/>
          <p:nvPr/>
        </p:nvSpPr>
        <p:spPr>
          <a:xfrm>
            <a:off x="1104900" y="2133600"/>
            <a:ext cx="48275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업로드된 영상에서 AI 기술을 활용하여 자동으로 얼굴을 탐지합니다.</a:t>
            </a:r>
            <a:endParaRPr lang="en-US" sz="1050" dirty="0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73CF299-295B-D8C6-F421-2FE77F8A2898}"/>
              </a:ext>
            </a:extLst>
          </p:cNvPr>
          <p:cNvGrpSpPr/>
          <p:nvPr/>
        </p:nvGrpSpPr>
        <p:grpSpPr>
          <a:xfrm>
            <a:off x="609600" y="2476500"/>
            <a:ext cx="4327029" cy="457200"/>
            <a:chOff x="609600" y="2476500"/>
            <a:chExt cx="4327029" cy="457200"/>
          </a:xfrm>
        </p:grpSpPr>
        <p:pic>
          <p:nvPicPr>
            <p:cNvPr id="8" name="Image 6" descr="preencoded.png">
              <a:extLst>
                <a:ext uri="{FF2B5EF4-FFF2-40B4-BE49-F238E27FC236}">
                  <a16:creationId xmlns:a16="http://schemas.microsoft.com/office/drawing/2014/main" id="{C17FF049-8CBD-D138-AFD7-8DFE47CFF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09600" y="2514600"/>
              <a:ext cx="381000" cy="381000"/>
            </a:xfrm>
            <a:prstGeom prst="rect">
              <a:avLst/>
            </a:prstGeom>
          </p:spPr>
        </p:pic>
        <p:sp>
          <p:nvSpPr>
            <p:cNvPr id="31" name="Text 4">
              <a:extLst>
                <a:ext uri="{FF2B5EF4-FFF2-40B4-BE49-F238E27FC236}">
                  <a16:creationId xmlns:a16="http://schemas.microsoft.com/office/drawing/2014/main" id="{03578DDC-A55F-431B-035C-911C3F4598CB}"/>
                </a:ext>
              </a:extLst>
            </p:cNvPr>
            <p:cNvSpPr/>
            <p:nvPr/>
          </p:nvSpPr>
          <p:spPr>
            <a:xfrm>
              <a:off x="1104900" y="2476500"/>
              <a:ext cx="3193107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1A3A5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자동 블러 처리</a:t>
              </a:r>
              <a:endParaRPr lang="en-US" sz="1350" dirty="0"/>
            </a:p>
          </p:txBody>
        </p:sp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8F4EF5F0-21A4-FFA6-896A-0BB02B02D4BD}"/>
                </a:ext>
              </a:extLst>
            </p:cNvPr>
            <p:cNvSpPr/>
            <p:nvPr/>
          </p:nvSpPr>
          <p:spPr>
            <a:xfrm>
              <a:off x="1104900" y="2743200"/>
              <a:ext cx="3831729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탐지된 얼굴에 대해 자동으로 블러 처리를 적용합니다.</a:t>
              </a:r>
              <a:endParaRPr lang="en-US" sz="1050" dirty="0"/>
            </a:p>
          </p:txBody>
        </p:sp>
      </p:grpSp>
      <p:sp>
        <p:nvSpPr>
          <p:cNvPr id="37" name="Text 10">
            <a:extLst>
              <a:ext uri="{FF2B5EF4-FFF2-40B4-BE49-F238E27FC236}">
                <a16:creationId xmlns:a16="http://schemas.microsoft.com/office/drawing/2014/main" id="{1FE3BD96-ADC7-A5A1-6D80-890883CBFF57}"/>
              </a:ext>
            </a:extLst>
          </p:cNvPr>
          <p:cNvSpPr/>
          <p:nvPr/>
        </p:nvSpPr>
        <p:spPr>
          <a:xfrm>
            <a:off x="1104900" y="4495800"/>
            <a:ext cx="3837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영상 다운로드</a:t>
            </a:r>
            <a:endParaRPr lang="en-US" sz="135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7ABCF8B4-4D1D-27B8-7754-4E486898BD32}"/>
              </a:ext>
            </a:extLst>
          </p:cNvPr>
          <p:cNvSpPr/>
          <p:nvPr/>
        </p:nvSpPr>
        <p:spPr>
          <a:xfrm>
            <a:off x="1104900" y="4762500"/>
            <a:ext cx="46052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블러 처리 및 편집이 완료된 최종 영상을 다운로드할 수 있습니다.</a:t>
            </a:r>
            <a:endParaRPr lang="en-US" sz="105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3C8364F3-EE89-3453-3609-7658F41ED0EF}"/>
              </a:ext>
            </a:extLst>
          </p:cNvPr>
          <p:cNvSpPr/>
          <p:nvPr/>
        </p:nvSpPr>
        <p:spPr>
          <a:xfrm>
            <a:off x="6800850" y="1409700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8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B2D44D0A-7435-8D2D-EDBD-0996C40DACBD}"/>
              </a:ext>
            </a:extLst>
          </p:cNvPr>
          <p:cNvSpPr/>
          <p:nvPr/>
        </p:nvSpPr>
        <p:spPr>
          <a:xfrm>
            <a:off x="6810375" y="19812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</a:t>
            </a:r>
            <a:endParaRPr lang="en-US" sz="1350" dirty="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5FE299CE-4748-F3CA-033C-031FE4A3C624}"/>
              </a:ext>
            </a:extLst>
          </p:cNvPr>
          <p:cNvSpPr/>
          <p:nvPr/>
        </p:nvSpPr>
        <p:spPr>
          <a:xfrm>
            <a:off x="6581775" y="23241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HTML/JS</a:t>
            </a:r>
            <a:endParaRPr lang="en-US" sz="1050" dirty="0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C6BA29B6-156D-6D14-9F35-58EAF6D298E0}"/>
              </a:ext>
            </a:extLst>
          </p:cNvPr>
          <p:cNvSpPr/>
          <p:nvPr/>
        </p:nvSpPr>
        <p:spPr>
          <a:xfrm>
            <a:off x="9448800" y="19812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처리</a:t>
            </a:r>
            <a:endParaRPr lang="en-US" sz="1350" dirty="0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127037B6-E50D-6ABA-4506-615F25E6D04E}"/>
              </a:ext>
            </a:extLst>
          </p:cNvPr>
          <p:cNvSpPr/>
          <p:nvPr/>
        </p:nvSpPr>
        <p:spPr>
          <a:xfrm>
            <a:off x="9248775" y="23241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FFmpeg</a:t>
            </a:r>
            <a:endParaRPr lang="en-US" sz="1050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DDF43489-D5AF-8ECD-A141-888D02E53D8F}"/>
              </a:ext>
            </a:extLst>
          </p:cNvPr>
          <p:cNvSpPr/>
          <p:nvPr/>
        </p:nvSpPr>
        <p:spPr>
          <a:xfrm>
            <a:off x="9248775" y="25146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OpenCV</a:t>
            </a:r>
            <a:endParaRPr lang="en-US" sz="1050" dirty="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45723BA2-85F0-4D22-3389-F48D56F81BDA}"/>
              </a:ext>
            </a:extLst>
          </p:cNvPr>
          <p:cNvSpPr/>
          <p:nvPr/>
        </p:nvSpPr>
        <p:spPr>
          <a:xfrm>
            <a:off x="9248775" y="27051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</a:t>
            </a:r>
            <a:endParaRPr lang="en-US" sz="1050" dirty="0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1565FD2A-63B1-0616-7E48-7DB8203E7CA6}"/>
              </a:ext>
            </a:extLst>
          </p:cNvPr>
          <p:cNvSpPr/>
          <p:nvPr/>
        </p:nvSpPr>
        <p:spPr>
          <a:xfrm>
            <a:off x="6762750" y="32766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</a:t>
            </a:r>
            <a:endParaRPr lang="en-US" sz="1350" dirty="0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0DE64E65-7ABD-73C7-ADD9-2D51C658490A}"/>
              </a:ext>
            </a:extLst>
          </p:cNvPr>
          <p:cNvSpPr/>
          <p:nvPr/>
        </p:nvSpPr>
        <p:spPr>
          <a:xfrm>
            <a:off x="6581775" y="36195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</a:t>
            </a:r>
            <a:endParaRPr lang="en-US" sz="105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6E1D5FFC-EC9E-1EC5-7B73-F1F8D013D0BD}"/>
              </a:ext>
            </a:extLst>
          </p:cNvPr>
          <p:cNvSpPr/>
          <p:nvPr/>
        </p:nvSpPr>
        <p:spPr>
          <a:xfrm>
            <a:off x="6581775" y="38100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Flask</a:t>
            </a:r>
            <a:endParaRPr lang="en-US" sz="1050" dirty="0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74F6F66E-D05F-829D-27B6-4DD10099C030}"/>
              </a:ext>
            </a:extLst>
          </p:cNvPr>
          <p:cNvSpPr/>
          <p:nvPr/>
        </p:nvSpPr>
        <p:spPr>
          <a:xfrm>
            <a:off x="9410700" y="32766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</a:t>
            </a:r>
            <a:endParaRPr lang="en-US" sz="1350" dirty="0"/>
          </a:p>
        </p:txBody>
      </p:sp>
      <p:sp>
        <p:nvSpPr>
          <p:cNvPr id="54" name="Text 27">
            <a:extLst>
              <a:ext uri="{FF2B5EF4-FFF2-40B4-BE49-F238E27FC236}">
                <a16:creationId xmlns:a16="http://schemas.microsoft.com/office/drawing/2014/main" id="{2DB297F2-8C4A-0C64-7C72-36A90EF45CF7}"/>
              </a:ext>
            </a:extLst>
          </p:cNvPr>
          <p:cNvSpPr/>
          <p:nvPr/>
        </p:nvSpPr>
        <p:spPr>
          <a:xfrm>
            <a:off x="9248775" y="36195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SQLite</a:t>
            </a:r>
            <a:endParaRPr lang="en-US" sz="1050" dirty="0"/>
          </a:p>
        </p:txBody>
      </p:sp>
      <p:sp>
        <p:nvSpPr>
          <p:cNvPr id="57" name="Text 30">
            <a:extLst>
              <a:ext uri="{FF2B5EF4-FFF2-40B4-BE49-F238E27FC236}">
                <a16:creationId xmlns:a16="http://schemas.microsoft.com/office/drawing/2014/main" id="{3FB6CC00-ACB1-4B33-7B6E-5521F444A63E}"/>
              </a:ext>
            </a:extLst>
          </p:cNvPr>
          <p:cNvSpPr/>
          <p:nvPr/>
        </p:nvSpPr>
        <p:spPr>
          <a:xfrm>
            <a:off x="6696075" y="4610100"/>
            <a:ext cx="4772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서비스는 React 프론트엔드와 Python 백엔드로 구성되어, OpenCV 및 YOLO 기술을 이용한 얼굴 탐지와 블러 처리 기능을 제공합니다.</a:t>
            </a:r>
            <a:endParaRPr lang="en-US" sz="1050" dirty="0"/>
          </a:p>
        </p:txBody>
      </p:sp>
      <p:sp>
        <p:nvSpPr>
          <p:cNvPr id="58" name="Text 31">
            <a:extLst>
              <a:ext uri="{FF2B5EF4-FFF2-40B4-BE49-F238E27FC236}">
                <a16:creationId xmlns:a16="http://schemas.microsoft.com/office/drawing/2014/main" id="{2240620A-DBB0-0DB2-8CCA-7E4C786B5AAE}"/>
              </a:ext>
            </a:extLst>
          </p:cNvPr>
          <p:cNvSpPr/>
          <p:nvPr/>
        </p:nvSpPr>
        <p:spPr>
          <a:xfrm>
            <a:off x="457200" y="6210300"/>
            <a:ext cx="1127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ICT폴리텍대학 2학년 | 졸업 프로젝트</a:t>
            </a:r>
            <a:endParaRPr lang="en-US" sz="1050" dirty="0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D12A0139-CB17-7D14-6BEB-7198DC9594CC}"/>
              </a:ext>
            </a:extLst>
          </p:cNvPr>
          <p:cNvGrpSpPr/>
          <p:nvPr/>
        </p:nvGrpSpPr>
        <p:grpSpPr>
          <a:xfrm>
            <a:off x="609600" y="3086100"/>
            <a:ext cx="5181600" cy="647700"/>
            <a:chOff x="609600" y="3695700"/>
            <a:chExt cx="5181600" cy="647700"/>
          </a:xfrm>
        </p:grpSpPr>
        <p:pic>
          <p:nvPicPr>
            <p:cNvPr id="66" name="Image 9" descr="preencoded.png">
              <a:extLst>
                <a:ext uri="{FF2B5EF4-FFF2-40B4-BE49-F238E27FC236}">
                  <a16:creationId xmlns:a16="http://schemas.microsoft.com/office/drawing/2014/main" id="{699F239E-A2D5-F362-7ABA-325F8C9AF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609600" y="3733800"/>
              <a:ext cx="381000" cy="381000"/>
            </a:xfrm>
            <a:prstGeom prst="rect">
              <a:avLst/>
            </a:prstGeom>
          </p:spPr>
        </p:pic>
        <p:pic>
          <p:nvPicPr>
            <p:cNvPr id="67" name="Image 10" descr="preencoded.png">
              <a:extLst>
                <a:ext uri="{FF2B5EF4-FFF2-40B4-BE49-F238E27FC236}">
                  <a16:creationId xmlns:a16="http://schemas.microsoft.com/office/drawing/2014/main" id="{DD8ADA8B-6158-D51B-0BD3-E6FD2941F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723900" y="3848100"/>
              <a:ext cx="152400" cy="152400"/>
            </a:xfrm>
            <a:prstGeom prst="rect">
              <a:avLst/>
            </a:prstGeom>
          </p:spPr>
        </p:pic>
        <p:sp>
          <p:nvSpPr>
            <p:cNvPr id="68" name="Text 8">
              <a:extLst>
                <a:ext uri="{FF2B5EF4-FFF2-40B4-BE49-F238E27FC236}">
                  <a16:creationId xmlns:a16="http://schemas.microsoft.com/office/drawing/2014/main" id="{A31C767F-5183-552E-AD3B-5B8EA9A4F7BF}"/>
                </a:ext>
              </a:extLst>
            </p:cNvPr>
            <p:cNvSpPr/>
            <p:nvPr/>
          </p:nvSpPr>
          <p:spPr>
            <a:xfrm>
              <a:off x="1104900" y="3695700"/>
              <a:ext cx="4686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1A3A5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UI 편집 기능</a:t>
              </a:r>
              <a:endParaRPr lang="en-US" sz="1350" dirty="0"/>
            </a:p>
          </p:txBody>
        </p:sp>
        <p:sp>
          <p:nvSpPr>
            <p:cNvPr id="69" name="Text 9">
              <a:extLst>
                <a:ext uri="{FF2B5EF4-FFF2-40B4-BE49-F238E27FC236}">
                  <a16:creationId xmlns:a16="http://schemas.microsoft.com/office/drawing/2014/main" id="{D635097C-B0A3-0C2C-EA45-1E9948FB1ACF}"/>
                </a:ext>
              </a:extLst>
            </p:cNvPr>
            <p:cNvSpPr/>
            <p:nvPr/>
          </p:nvSpPr>
          <p:spPr>
            <a:xfrm>
              <a:off x="1104900" y="3962400"/>
              <a:ext cx="46863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사용자가 블러 처리된 얼굴을 선택적으로 해제하거나 추가할 수 있는 편집 UI를 제공합니다.</a:t>
              </a:r>
              <a:endParaRPr lang="en-US" sz="1050" dirty="0"/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067EAFFD-589A-9E12-4FCA-1A5F96EA9470}"/>
              </a:ext>
            </a:extLst>
          </p:cNvPr>
          <p:cNvGrpSpPr/>
          <p:nvPr/>
        </p:nvGrpSpPr>
        <p:grpSpPr>
          <a:xfrm>
            <a:off x="609600" y="3848100"/>
            <a:ext cx="5216069" cy="457200"/>
            <a:chOff x="609600" y="3086100"/>
            <a:chExt cx="5216069" cy="457200"/>
          </a:xfrm>
        </p:grpSpPr>
        <p:pic>
          <p:nvPicPr>
            <p:cNvPr id="71" name="Image 7" descr="preencoded.png">
              <a:extLst>
                <a:ext uri="{FF2B5EF4-FFF2-40B4-BE49-F238E27FC236}">
                  <a16:creationId xmlns:a16="http://schemas.microsoft.com/office/drawing/2014/main" id="{0E2061C8-D3D2-EDB0-2079-CDC1F844F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09600" y="3124200"/>
              <a:ext cx="381000" cy="381000"/>
            </a:xfrm>
            <a:prstGeom prst="rect">
              <a:avLst/>
            </a:prstGeom>
          </p:spPr>
        </p:pic>
        <p:pic>
          <p:nvPicPr>
            <p:cNvPr id="72" name="Image 8" descr="preencoded.png">
              <a:extLst>
                <a:ext uri="{FF2B5EF4-FFF2-40B4-BE49-F238E27FC236}">
                  <a16:creationId xmlns:a16="http://schemas.microsoft.com/office/drawing/2014/main" id="{CFDB5B00-C387-8199-3424-069DC32EB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704850" y="3238500"/>
              <a:ext cx="190500" cy="152400"/>
            </a:xfrm>
            <a:prstGeom prst="rect">
              <a:avLst/>
            </a:prstGeom>
          </p:spPr>
        </p:pic>
        <p:sp>
          <p:nvSpPr>
            <p:cNvPr id="73" name="Text 6">
              <a:extLst>
                <a:ext uri="{FF2B5EF4-FFF2-40B4-BE49-F238E27FC236}">
                  <a16:creationId xmlns:a16="http://schemas.microsoft.com/office/drawing/2014/main" id="{E4E0F840-EBE5-C061-15BC-08A2C51791A2}"/>
                </a:ext>
              </a:extLst>
            </p:cNvPr>
            <p:cNvSpPr/>
            <p:nvPr/>
          </p:nvSpPr>
          <p:spPr>
            <a:xfrm>
              <a:off x="1104900" y="3086100"/>
              <a:ext cx="3933974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1A3A5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웹 기반 영상 업로드</a:t>
              </a:r>
              <a:endParaRPr lang="en-US" sz="1350" dirty="0"/>
            </a:p>
          </p:txBody>
        </p:sp>
        <p:sp>
          <p:nvSpPr>
            <p:cNvPr id="74" name="Text 7">
              <a:extLst>
                <a:ext uri="{FF2B5EF4-FFF2-40B4-BE49-F238E27FC236}">
                  <a16:creationId xmlns:a16="http://schemas.microsoft.com/office/drawing/2014/main" id="{A57950ED-C737-60A1-7B6F-E46033289C21}"/>
                </a:ext>
              </a:extLst>
            </p:cNvPr>
            <p:cNvSpPr/>
            <p:nvPr/>
          </p:nvSpPr>
          <p:spPr>
            <a:xfrm>
              <a:off x="1104900" y="3352800"/>
              <a:ext cx="4720769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사용자가 웹 인터페이스를 통해 쉽게 영상을 업로드할 수 있습니다.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3497814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AF78D6-8FEB-7706-F36C-AD1068CC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EFCB121-2985-240C-EA1B-5B8B7E1CD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85209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4A580AC9-C62F-3AFF-FFB9-3F9615667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76300"/>
            <a:ext cx="914400" cy="38100"/>
          </a:xfrm>
          <a:prstGeom prst="rect">
            <a:avLst/>
          </a:prstGeom>
        </p:spPr>
      </p:pic>
      <p:sp>
        <p:nvSpPr>
          <p:cNvPr id="21" name="Text 0">
            <a:extLst>
              <a:ext uri="{FF2B5EF4-FFF2-40B4-BE49-F238E27FC236}">
                <a16:creationId xmlns:a16="http://schemas.microsoft.com/office/drawing/2014/main" id="{F0AB3750-E527-694D-A8AC-2F0F7E5F5A8E}"/>
              </a:ext>
            </a:extLst>
          </p:cNvPr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화면</a:t>
            </a:r>
            <a:endParaRPr lang="en-US" sz="27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0BE42715-FA3F-3037-CC89-24408EF2AC77}"/>
              </a:ext>
            </a:extLst>
          </p:cNvPr>
          <p:cNvSpPr/>
          <p:nvPr/>
        </p:nvSpPr>
        <p:spPr>
          <a:xfrm>
            <a:off x="9605516" y="6449776"/>
            <a:ext cx="26465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ICT폴리텍대학 2학년 | 졸업 프로젝트</a:t>
            </a:r>
            <a:endParaRPr lang="en-US" sz="1050" dirty="0"/>
          </a:p>
        </p:txBody>
      </p:sp>
      <p:pic>
        <p:nvPicPr>
          <p:cNvPr id="34" name="그림 33" descr="텍스트, 소프트웨어, 웹 페이지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31AA7F-9A15-D397-9EB1-04A2818647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7874"/>
          <a:stretch>
            <a:fillRect/>
          </a:stretch>
        </p:blipFill>
        <p:spPr>
          <a:xfrm>
            <a:off x="1325429" y="1189863"/>
            <a:ext cx="9541141" cy="489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806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954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714500"/>
            <a:ext cx="5410200" cy="1066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96215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20955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939143"/>
            <a:ext cx="5410200" cy="1524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415393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050" y="3548743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1295400"/>
            <a:ext cx="28575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1714500"/>
            <a:ext cx="5410200" cy="1066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1962150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48450" y="209550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2933700"/>
            <a:ext cx="5410200" cy="1295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3295650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19875" y="3429000"/>
            <a:ext cx="28575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4381500"/>
            <a:ext cx="5410200" cy="1066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4629150"/>
            <a:ext cx="571500" cy="571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19875" y="4762500"/>
            <a:ext cx="285750" cy="3048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 및 활용 분야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762000" y="1257300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1333500" y="1866900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절약</a:t>
            </a:r>
            <a:endParaRPr lang="en-US" sz="1500" dirty="0"/>
          </a:p>
        </p:txBody>
      </p:sp>
      <p:sp>
        <p:nvSpPr>
          <p:cNvPr id="26" name="Text 3"/>
          <p:cNvSpPr/>
          <p:nvPr/>
        </p:nvSpPr>
        <p:spPr>
          <a:xfrm>
            <a:off x="1333500" y="2171700"/>
            <a:ext cx="438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블러 처리 자동화로 인한 작업 시간 감소로 공공기관 및 의료기관의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근무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절약할 수 있습니다.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1333500" y="3091543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개인정보보호 강화</a:t>
            </a:r>
            <a:endParaRPr lang="en-US" sz="1500" dirty="0"/>
          </a:p>
        </p:txBody>
      </p:sp>
      <p:sp>
        <p:nvSpPr>
          <p:cNvPr id="29" name="Text 6"/>
          <p:cNvSpPr/>
          <p:nvPr/>
        </p:nvSpPr>
        <p:spPr>
          <a:xfrm>
            <a:off x="1333500" y="3396343"/>
            <a:ext cx="438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SNS 및 커뮤니티 업로드 영상의 사생활 침해를 방지하여 개인정보보호를 강화할 수 있습니다. 자동화된 얼굴 인식 및 블러 처리로 인한 개인정보 노출 감소로 개인의 디지털 자산 보호에 기여합니다.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6686550" y="1257300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분야</a:t>
            </a:r>
            <a:endParaRPr lang="en-US" sz="1800" dirty="0"/>
          </a:p>
        </p:txBody>
      </p:sp>
      <p:sp>
        <p:nvSpPr>
          <p:cNvPr id="31" name="Text 8"/>
          <p:cNvSpPr/>
          <p:nvPr/>
        </p:nvSpPr>
        <p:spPr>
          <a:xfrm>
            <a:off x="7200900" y="1866900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공공기관</a:t>
            </a:r>
            <a:endParaRPr lang="en-US" sz="1500" dirty="0"/>
          </a:p>
        </p:txBody>
      </p:sp>
      <p:sp>
        <p:nvSpPr>
          <p:cNvPr id="32" name="Text 9"/>
          <p:cNvSpPr/>
          <p:nvPr/>
        </p:nvSpPr>
        <p:spPr>
          <a:xfrm>
            <a:off x="7200900" y="2171700"/>
            <a:ext cx="438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민감한 정보가 포함된 영상을 처리해야 하는 경우, 자동 블러 처리로 시간을 절약하고 민감한 개인정보 보호에 기여합니다.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7200900" y="3086100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의료기관</a:t>
            </a:r>
            <a:endParaRPr lang="en-US" sz="1500" dirty="0"/>
          </a:p>
        </p:txBody>
      </p:sp>
      <p:sp>
        <p:nvSpPr>
          <p:cNvPr id="34" name="Text 11"/>
          <p:cNvSpPr/>
          <p:nvPr/>
        </p:nvSpPr>
        <p:spPr>
          <a:xfrm>
            <a:off x="7200900" y="3390900"/>
            <a:ext cx="4381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환자의 얼굴 같은 개인정보가 포함된 의료 영상에서 자동 블러 처리로 환자의 사생활을 보호하면서도 의료 정보의 공유를 가능하게 합니다.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7200900" y="4533900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사용자</a:t>
            </a:r>
            <a:endParaRPr lang="en-US" sz="1500" dirty="0"/>
          </a:p>
        </p:txBody>
      </p:sp>
      <p:sp>
        <p:nvSpPr>
          <p:cNvPr id="36" name="Text 13"/>
          <p:cNvSpPr/>
          <p:nvPr/>
        </p:nvSpPr>
        <p:spPr>
          <a:xfrm>
            <a:off x="7200900" y="4838700"/>
            <a:ext cx="438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영상에서의 사생활 보호를 위해 누구나 쉽게 접근하고 사용할 수 있는 편리한 도구를 제공합니다.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9529316" y="6400800"/>
            <a:ext cx="26465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ICT폴리텍대학 2학년 | 졸업 프로젝트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333500"/>
            <a:ext cx="5486400" cy="5067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5621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165735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2860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6670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0480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4290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810000"/>
            <a:ext cx="5029200" cy="495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3981450"/>
            <a:ext cx="1143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1333500"/>
            <a:ext cx="5486400" cy="5067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15621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0350" y="165735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23050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3333750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4305300"/>
            <a:ext cx="5029200" cy="685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29400" y="4572000"/>
            <a:ext cx="142875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및 향후 계획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1295400" y="1638300"/>
            <a:ext cx="11735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요약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952500" y="2247900"/>
            <a:ext cx="5242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영상 개인정보보호 시스템을 성공적으로 구현했습니다.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952500" y="2628900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기반 편집 기능을 제공하여 누구나 쉽게 사용할 수 있도록 하였습니다.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952500" y="3009900"/>
            <a:ext cx="42469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얼굴 탐지 및 블러 처리 기능을 완료하였습니다.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952500" y="3390900"/>
            <a:ext cx="2631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완료도는 100%입니다.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1066800" y="3962400"/>
            <a:ext cx="362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"개인정보보호는 누구나 쉽게 할 수 있어야 합니다."</a:t>
            </a:r>
            <a:endParaRPr lang="en-US" sz="1050" dirty="0"/>
          </a:p>
        </p:txBody>
      </p:sp>
      <p:sp>
        <p:nvSpPr>
          <p:cNvPr id="27" name="Text 7"/>
          <p:cNvSpPr/>
          <p:nvPr/>
        </p:nvSpPr>
        <p:spPr>
          <a:xfrm>
            <a:off x="7086600" y="1638300"/>
            <a:ext cx="11735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계획</a:t>
            </a:r>
            <a:endParaRPr lang="en-US" sz="1800" dirty="0"/>
          </a:p>
        </p:txBody>
      </p:sp>
      <p:sp>
        <p:nvSpPr>
          <p:cNvPr id="28" name="Text 8"/>
          <p:cNvSpPr/>
          <p:nvPr/>
        </p:nvSpPr>
        <p:spPr>
          <a:xfrm>
            <a:off x="6743700" y="2247900"/>
            <a:ext cx="24919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정의 객체 추가 기능</a:t>
            </a:r>
            <a:endParaRPr lang="en-US" sz="1350" dirty="0"/>
          </a:p>
        </p:txBody>
      </p:sp>
      <p:sp>
        <p:nvSpPr>
          <p:cNvPr id="29" name="Text 9"/>
          <p:cNvSpPr/>
          <p:nvPr/>
        </p:nvSpPr>
        <p:spPr>
          <a:xfrm>
            <a:off x="6781800" y="2590800"/>
            <a:ext cx="472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얼굴 외에 번호판, 문서 등 다른 개인정보 요소를 탐지하고 블러 처리하는 기능을 추가할 예정입니다.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6781800" y="3276600"/>
            <a:ext cx="22290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개인정보 요소 안내</a:t>
            </a:r>
            <a:endParaRPr lang="en-US" sz="1350" dirty="0"/>
          </a:p>
        </p:txBody>
      </p:sp>
      <p:sp>
        <p:nvSpPr>
          <p:cNvPr id="31" name="Text 11"/>
          <p:cNvSpPr/>
          <p:nvPr/>
        </p:nvSpPr>
        <p:spPr>
          <a:xfrm>
            <a:off x="6781800" y="3619500"/>
            <a:ext cx="472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내 개인정보 요소를 자동으로 식별하고 사용자에게 안내하는 기능을 구현할 예정입니다.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6886575" y="4457700"/>
            <a:ext cx="4467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앞으로 더 많은 개인정보 보호 기능을 추가하여, 사용자에게 더욱 편리하고 강화된 서비스를 제공할 것입니다.</a:t>
            </a:r>
            <a:endParaRPr lang="en-US" sz="1050" dirty="0"/>
          </a:p>
        </p:txBody>
      </p:sp>
      <p:sp>
        <p:nvSpPr>
          <p:cNvPr id="33" name="Text 13"/>
          <p:cNvSpPr/>
          <p:nvPr/>
        </p:nvSpPr>
        <p:spPr>
          <a:xfrm>
            <a:off x="9529316" y="6362700"/>
            <a:ext cx="26465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ICT폴리텍대학 2학년 | 졸업 프로젝트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1752600"/>
            <a:ext cx="609600" cy="60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700" y="19050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5200" y="1752600"/>
            <a:ext cx="609600" cy="60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5700" y="19050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1200" y="1752600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1700" y="19050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7200" y="1752600"/>
            <a:ext cx="609600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7700" y="19050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63200" y="1752600"/>
            <a:ext cx="6096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53700" y="19050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3429000"/>
            <a:ext cx="11277600" cy="1371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41148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4114800"/>
            <a:ext cx="152400" cy="1524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안내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457200" y="1257300"/>
            <a:ext cx="135331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지금부터 저희가 개발한 'AI </a:t>
            </a:r>
            <a:r>
              <a:rPr lang="ko-KR" altLang="en-US" sz="13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 영상</a:t>
            </a:r>
            <a:r>
              <a:rPr lang="en-US" sz="13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5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얼굴 </a:t>
            </a:r>
            <a:r>
              <a:rPr lang="en-US" sz="13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블러 처리 웹서비스'를 직접 </a:t>
            </a:r>
            <a:r>
              <a:rPr lang="en-US" sz="1350" dirty="0" err="1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시연해보겠습니다</a:t>
            </a:r>
            <a:r>
              <a:rPr lang="en-US" sz="13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Text 2"/>
          <p:cNvSpPr/>
          <p:nvPr/>
        </p:nvSpPr>
        <p:spPr>
          <a:xfrm>
            <a:off x="980911" y="2476500"/>
            <a:ext cx="10860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접속</a:t>
            </a:r>
            <a:endParaRPr lang="en-US" sz="1350" dirty="0"/>
          </a:p>
        </p:txBody>
      </p:sp>
      <p:sp>
        <p:nvSpPr>
          <p:cNvPr id="20" name="Text 3"/>
          <p:cNvSpPr/>
          <p:nvPr/>
        </p:nvSpPr>
        <p:spPr>
          <a:xfrm>
            <a:off x="257071" y="2743200"/>
            <a:ext cx="25337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브라우저로 서비스에 접속합니다</a:t>
            </a:r>
            <a:endParaRPr lang="en-US" sz="1050" dirty="0"/>
          </a:p>
        </p:txBody>
      </p:sp>
      <p:sp>
        <p:nvSpPr>
          <p:cNvPr id="21" name="Text 4"/>
          <p:cNvSpPr/>
          <p:nvPr/>
        </p:nvSpPr>
        <p:spPr>
          <a:xfrm>
            <a:off x="3266911" y="2476500"/>
            <a:ext cx="10860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업로드</a:t>
            </a:r>
            <a:endParaRPr lang="en-US" sz="1350" dirty="0"/>
          </a:p>
        </p:txBody>
      </p:sp>
      <p:sp>
        <p:nvSpPr>
          <p:cNvPr id="22" name="Text 5"/>
          <p:cNvSpPr/>
          <p:nvPr/>
        </p:nvSpPr>
        <p:spPr>
          <a:xfrm>
            <a:off x="2743200" y="274320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선택 버튼으로 영상을 업로드합니다</a:t>
            </a:r>
            <a:endParaRPr lang="en-US" sz="1050" dirty="0"/>
          </a:p>
        </p:txBody>
      </p:sp>
      <p:sp>
        <p:nvSpPr>
          <p:cNvPr id="23" name="Text 6"/>
          <p:cNvSpPr/>
          <p:nvPr/>
        </p:nvSpPr>
        <p:spPr>
          <a:xfrm>
            <a:off x="5655781" y="2476500"/>
            <a:ext cx="8802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탐지</a:t>
            </a:r>
            <a:endParaRPr lang="en-US" sz="1350" dirty="0"/>
          </a:p>
        </p:txBody>
      </p:sp>
      <p:sp>
        <p:nvSpPr>
          <p:cNvPr id="24" name="Text 7"/>
          <p:cNvSpPr/>
          <p:nvPr/>
        </p:nvSpPr>
        <p:spPr>
          <a:xfrm>
            <a:off x="5029200" y="274320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얼굴을 자동으로 찾아 블러 처리합니다</a:t>
            </a:r>
            <a:endParaRPr lang="en-US" sz="1050" dirty="0"/>
          </a:p>
        </p:txBody>
      </p:sp>
      <p:sp>
        <p:nvSpPr>
          <p:cNvPr id="25" name="Text 8"/>
          <p:cNvSpPr/>
          <p:nvPr/>
        </p:nvSpPr>
        <p:spPr>
          <a:xfrm>
            <a:off x="7941781" y="2476500"/>
            <a:ext cx="8802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 기능</a:t>
            </a:r>
            <a:endParaRPr lang="en-US" sz="1350" dirty="0"/>
          </a:p>
        </p:txBody>
      </p:sp>
      <p:sp>
        <p:nvSpPr>
          <p:cNvPr id="26" name="Text 9"/>
          <p:cNvSpPr/>
          <p:nvPr/>
        </p:nvSpPr>
        <p:spPr>
          <a:xfrm>
            <a:off x="7315200" y="274320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체크박스로 블러 처리 여부를 조절합니다</a:t>
            </a:r>
            <a:endParaRPr lang="en-US" sz="1050" dirty="0"/>
          </a:p>
        </p:txBody>
      </p:sp>
      <p:sp>
        <p:nvSpPr>
          <p:cNvPr id="27" name="Text 10"/>
          <p:cNvSpPr/>
          <p:nvPr/>
        </p:nvSpPr>
        <p:spPr>
          <a:xfrm>
            <a:off x="10022041" y="2476500"/>
            <a:ext cx="1291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다운로드</a:t>
            </a:r>
            <a:endParaRPr lang="en-US" sz="1350" dirty="0"/>
          </a:p>
        </p:txBody>
      </p:sp>
      <p:sp>
        <p:nvSpPr>
          <p:cNvPr id="28" name="Text 11"/>
          <p:cNvSpPr/>
          <p:nvPr/>
        </p:nvSpPr>
        <p:spPr>
          <a:xfrm>
            <a:off x="9481081" y="2743200"/>
            <a:ext cx="23736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편집된 영상을 다운로드 받습니다</a:t>
            </a:r>
            <a:endParaRPr lang="en-US" sz="1050" dirty="0"/>
          </a:p>
        </p:txBody>
      </p:sp>
      <p:sp>
        <p:nvSpPr>
          <p:cNvPr id="29" name="Text 12"/>
          <p:cNvSpPr/>
          <p:nvPr/>
        </p:nvSpPr>
        <p:spPr>
          <a:xfrm>
            <a:off x="685800" y="3657600"/>
            <a:ext cx="10820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중 특별히 주목할 점</a:t>
            </a:r>
            <a:endParaRPr lang="en-US" sz="1500" dirty="0"/>
          </a:p>
        </p:txBody>
      </p:sp>
      <p:sp>
        <p:nvSpPr>
          <p:cNvPr id="30" name="Text 13"/>
          <p:cNvSpPr/>
          <p:nvPr/>
        </p:nvSpPr>
        <p:spPr>
          <a:xfrm>
            <a:off x="914400" y="40767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 기능의 편리함</a:t>
            </a:r>
            <a:endParaRPr lang="en-US" sz="1200" dirty="0"/>
          </a:p>
        </p:txBody>
      </p:sp>
      <p:sp>
        <p:nvSpPr>
          <p:cNvPr id="31" name="Text 14"/>
          <p:cNvSpPr/>
          <p:nvPr/>
        </p:nvSpPr>
        <p:spPr>
          <a:xfrm>
            <a:off x="685800" y="4381500"/>
            <a:ext cx="63550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타임라인을 통해 특정 시점의 얼굴만 블러 처리하거나 해제할 수 있습니다.</a:t>
            </a:r>
            <a:endParaRPr lang="en-US" sz="1050" dirty="0"/>
          </a:p>
        </p:txBody>
      </p:sp>
      <p:sp>
        <p:nvSpPr>
          <p:cNvPr id="32" name="Text 15"/>
          <p:cNvSpPr/>
          <p:nvPr/>
        </p:nvSpPr>
        <p:spPr>
          <a:xfrm>
            <a:off x="6438900" y="40767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처리 속도</a:t>
            </a:r>
            <a:endParaRPr lang="en-US" sz="1200" dirty="0"/>
          </a:p>
        </p:txBody>
      </p:sp>
      <p:sp>
        <p:nvSpPr>
          <p:cNvPr id="33" name="Text 16"/>
          <p:cNvSpPr/>
          <p:nvPr/>
        </p:nvSpPr>
        <p:spPr>
          <a:xfrm>
            <a:off x="6210300" y="4381500"/>
            <a:ext cx="63550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영상 처리 시간은 짧으며, 결과 영상의 품질을 확인할 수 있습니다.</a:t>
            </a:r>
            <a:endParaRPr lang="en-US" sz="1050" dirty="0"/>
          </a:p>
        </p:txBody>
      </p:sp>
      <p:sp>
        <p:nvSpPr>
          <p:cNvPr id="34" name="Text 17"/>
          <p:cNvSpPr/>
          <p:nvPr/>
        </p:nvSpPr>
        <p:spPr>
          <a:xfrm>
            <a:off x="457200" y="6134100"/>
            <a:ext cx="1127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"개인정보보호는 누구나 쉽게 할 수 있어야 합니다."</a:t>
            </a:r>
            <a:endParaRPr lang="en-US" sz="1350" dirty="0"/>
          </a:p>
        </p:txBody>
      </p:sp>
      <p:sp>
        <p:nvSpPr>
          <p:cNvPr id="35" name="Text 18"/>
          <p:cNvSpPr/>
          <p:nvPr/>
        </p:nvSpPr>
        <p:spPr>
          <a:xfrm>
            <a:off x="9452967" y="6362700"/>
            <a:ext cx="27381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있으시면 언제든지 말씀해주세요!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1579</Words>
  <Application>Microsoft Office PowerPoint</Application>
  <PresentationFormat>와이드스크린</PresentationFormat>
  <Paragraphs>221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Noto Sans KR</vt:lpstr>
      <vt:lpstr>ui-sans-serif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윤성빈</cp:lastModifiedBy>
  <cp:revision>51</cp:revision>
  <dcterms:created xsi:type="dcterms:W3CDTF">2025-10-15T04:18:34Z</dcterms:created>
  <dcterms:modified xsi:type="dcterms:W3CDTF">2025-10-28T10:01:11Z</dcterms:modified>
</cp:coreProperties>
</file>