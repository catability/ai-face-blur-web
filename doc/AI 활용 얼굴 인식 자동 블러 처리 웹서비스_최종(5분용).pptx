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9" r:id="rId5"/>
    <p:sldId id="270" r:id="rId6"/>
    <p:sldId id="263" r:id="rId7"/>
    <p:sldId id="264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83719" autoAdjust="0"/>
  </p:normalViewPr>
  <p:slideViewPr>
    <p:cSldViewPr snapToGrid="0" snapToObjects="1">
      <p:cViewPr varScale="1">
        <p:scale>
          <a:sx n="74" d="100"/>
          <a:sy n="74" d="100"/>
        </p:scale>
        <p:origin x="73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7071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6</a:t>
            </a:r>
            <a:r>
              <a:rPr lang="ko-KR" altLang="en-US" dirty="0"/>
              <a:t>조의 발표를 맡은 윤성빈입니다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CCTV</a:t>
            </a:r>
            <a:r>
              <a:rPr lang="ko-KR" altLang="en-US" dirty="0"/>
              <a:t>나 인터넷 영상은 한번 공유되면 영구 삭제가 어려워</a:t>
            </a:r>
            <a:r>
              <a:rPr lang="en-US" altLang="ko-KR" dirty="0"/>
              <a:t>, </a:t>
            </a:r>
            <a:r>
              <a:rPr lang="ko-KR" altLang="en-US" dirty="0"/>
              <a:t>심각한 사생활 침해를 일으킵니다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수술실</a:t>
            </a:r>
            <a:r>
              <a:rPr lang="en-US" altLang="ko-KR" dirty="0"/>
              <a:t>, CCTV</a:t>
            </a:r>
            <a:r>
              <a:rPr lang="ko-KR" altLang="en-US" dirty="0"/>
              <a:t> 영상이나 개인 콘텐츠 등은 배포 전 모자이크 처리가 필요한데요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이 작업을 </a:t>
            </a:r>
            <a:r>
              <a:rPr lang="ko-KR" altLang="en-US" b="1" dirty="0"/>
              <a:t>수작업으로 일일이 처리하는 것은 엄청난 시간과 노력이 낭비</a:t>
            </a:r>
            <a:r>
              <a:rPr lang="ko-KR" altLang="en-US" dirty="0"/>
              <a:t>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저희는 이 </a:t>
            </a:r>
            <a:r>
              <a:rPr lang="ko-KR" altLang="en-US" b="1" dirty="0"/>
              <a:t>필수적이지만 번거로운</a:t>
            </a:r>
            <a:r>
              <a:rPr lang="ko-KR" altLang="en-US" dirty="0"/>
              <a:t> 문제를 해결하기 위해</a:t>
            </a:r>
            <a:r>
              <a:rPr lang="en-US" altLang="ko-KR" dirty="0"/>
              <a:t>, AI </a:t>
            </a:r>
            <a:r>
              <a:rPr lang="ko-KR" altLang="en-US" dirty="0"/>
              <a:t>자동화 솔루션이 필요하다고 생각했습니다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저희 프로젝트의 목표는 매우 명확한데요</a:t>
            </a:r>
            <a:r>
              <a:rPr lang="en-US" altLang="ko-KR" dirty="0"/>
              <a:t>. </a:t>
            </a:r>
            <a:r>
              <a:rPr lang="en-US" altLang="ko-KR" b="1" dirty="0"/>
              <a:t>'</a:t>
            </a:r>
            <a:r>
              <a:rPr lang="ko-KR" altLang="en-US" b="1" dirty="0"/>
              <a:t>사용자가 영상을 올리기만 하면</a:t>
            </a:r>
            <a:r>
              <a:rPr lang="en-US" altLang="ko-KR" b="1" dirty="0"/>
              <a:t>, AI</a:t>
            </a:r>
            <a:r>
              <a:rPr lang="ko-KR" altLang="en-US" b="1" dirty="0"/>
              <a:t>가 알아서 얼굴을 찾고 자동으로 </a:t>
            </a:r>
            <a:r>
              <a:rPr lang="ko-KR" altLang="en-US" b="1" dirty="0" err="1"/>
              <a:t>블러</a:t>
            </a:r>
            <a:r>
              <a:rPr lang="ko-KR" altLang="en-US" b="1" dirty="0"/>
              <a:t> 처리해주는</a:t>
            </a:r>
            <a:r>
              <a:rPr lang="en-US" altLang="ko-KR" b="1" dirty="0"/>
              <a:t>,</a:t>
            </a:r>
            <a:r>
              <a:rPr lang="ko-KR" altLang="en-US" b="1" dirty="0"/>
              <a:t> 쉽고 빠른 웹 서비스를 만드는 것</a:t>
            </a:r>
            <a:r>
              <a:rPr lang="en-US" altLang="ko-KR" b="1" dirty="0"/>
              <a:t>'</a:t>
            </a:r>
            <a:r>
              <a:rPr lang="ko-KR" altLang="en-US" dirty="0"/>
              <a:t> 입니다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13F18-5A06-1225-A64A-610482BC6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B73F78-A2A5-36B6-4EB5-7F8640F6E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9EAA5-99A8-E365-002C-CCBEB90CE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</a:t>
            </a:r>
            <a:r>
              <a:rPr lang="en-US" altLang="ko-KR" dirty="0"/>
              <a:t>, </a:t>
            </a:r>
            <a:r>
              <a:rPr lang="ko-KR" altLang="en-US" dirty="0"/>
              <a:t>말로 </a:t>
            </a:r>
            <a:r>
              <a:rPr lang="ko-KR" altLang="en-US" dirty="0" err="1"/>
              <a:t>설명드리는</a:t>
            </a:r>
            <a:r>
              <a:rPr lang="ko-KR" altLang="en-US" dirty="0"/>
              <a:t> 것보다 직접 </a:t>
            </a:r>
            <a:r>
              <a:rPr lang="ko-KR" altLang="en-US" dirty="0" err="1"/>
              <a:t>보는게</a:t>
            </a:r>
            <a:r>
              <a:rPr lang="ko-KR" altLang="en-US" dirty="0"/>
              <a:t> 더 낫겠죠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바로 시연해서 보여드리겠습니다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8B583-62CE-2BD2-918E-5D050CBE65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17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0F042-4AD8-A8D6-C730-A332F35B0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3A106-FB92-519D-ACA6-6594D15C9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9C4AA-D0BC-FEA8-C4E9-410AF42A3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</a:t>
            </a:r>
            <a:r>
              <a:rPr lang="en-US" altLang="ko-KR" dirty="0"/>
              <a:t>, </a:t>
            </a:r>
            <a:r>
              <a:rPr lang="ko-KR" altLang="en-US" dirty="0"/>
              <a:t>방금 시연에서 보신 기능들은 다음과 같은 기술 스택으로 구현했습니다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프론트엔드는</a:t>
            </a:r>
            <a:r>
              <a:rPr lang="ko-KR" altLang="en-US" dirty="0"/>
              <a:t> </a:t>
            </a:r>
            <a:r>
              <a:rPr lang="en-US" altLang="ko-KR" b="1" dirty="0"/>
              <a:t>HTML/JS</a:t>
            </a:r>
            <a:r>
              <a:rPr lang="ko-KR" altLang="en-US" dirty="0"/>
              <a:t> </a:t>
            </a:r>
            <a:r>
              <a:rPr lang="en-US" altLang="ko-KR" dirty="0"/>
              <a:t>, </a:t>
            </a:r>
            <a:r>
              <a:rPr lang="ko-KR" altLang="en-US" dirty="0" err="1"/>
              <a:t>백엔드는</a:t>
            </a:r>
            <a:r>
              <a:rPr lang="ko-KR" altLang="en-US" dirty="0"/>
              <a:t> </a:t>
            </a:r>
            <a:r>
              <a:rPr lang="en-US" altLang="ko-KR" b="1" dirty="0"/>
              <a:t>Python Flask</a:t>
            </a:r>
            <a:r>
              <a:rPr lang="ko-KR" altLang="en-US" dirty="0"/>
              <a:t>를 사용했습니다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핵심 기능인 </a:t>
            </a:r>
            <a:r>
              <a:rPr lang="en-US" altLang="ko-KR" dirty="0"/>
              <a:t>AI </a:t>
            </a:r>
            <a:r>
              <a:rPr lang="ko-KR" altLang="en-US" dirty="0"/>
              <a:t>얼굴 탐지에는 </a:t>
            </a:r>
            <a:r>
              <a:rPr lang="en-US" altLang="ko-KR" b="1" dirty="0"/>
              <a:t>YOLO</a:t>
            </a:r>
            <a:r>
              <a:rPr lang="ko-KR" altLang="en-US" dirty="0"/>
              <a:t> 모델을</a:t>
            </a:r>
            <a:r>
              <a:rPr lang="en-US" altLang="ko-KR" dirty="0"/>
              <a:t>, </a:t>
            </a:r>
            <a:r>
              <a:rPr lang="ko-KR" altLang="en-US" dirty="0"/>
              <a:t>그리고 영상 처리에는 </a:t>
            </a:r>
            <a:r>
              <a:rPr lang="en-US" altLang="ko-KR" b="1" dirty="0" err="1"/>
              <a:t>FFmpeg</a:t>
            </a:r>
            <a:r>
              <a:rPr lang="ko-KR" altLang="en-US" b="1" dirty="0"/>
              <a:t>과 </a:t>
            </a:r>
            <a:r>
              <a:rPr lang="en-US" altLang="ko-KR" b="1" dirty="0"/>
              <a:t>OpenCV</a:t>
            </a:r>
            <a:r>
              <a:rPr lang="ko-KR" altLang="en-US" dirty="0"/>
              <a:t>를 활용했습니다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862A0-76B6-8850-3A55-3B815956B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51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서비스의 기대 효과는</a:t>
            </a:r>
            <a:endParaRPr lang="en-US" altLang="ko-KR" dirty="0"/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시연에서 보셨듯 수작업을 자동화하는 압도적인 </a:t>
            </a:r>
            <a:r>
              <a:rPr lang="en-US" altLang="ko-KR" b="1" dirty="0"/>
              <a:t>'</a:t>
            </a:r>
            <a:r>
              <a:rPr lang="ko-KR" altLang="en-US" b="1" dirty="0"/>
              <a:t>시간 절약</a:t>
            </a:r>
            <a:r>
              <a:rPr lang="en-US" altLang="ko-KR" b="1" dirty="0"/>
              <a:t>'</a:t>
            </a:r>
            <a:r>
              <a:rPr lang="ko-KR" altLang="en-US" dirty="0"/>
              <a:t> 이고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SNS </a:t>
            </a:r>
            <a:r>
              <a:rPr lang="ko-KR" altLang="en-US" dirty="0"/>
              <a:t>업로드 전 사생활을 지키는 **</a:t>
            </a:r>
            <a:r>
              <a:rPr lang="en-US" altLang="ko-KR" dirty="0"/>
              <a:t>'</a:t>
            </a:r>
            <a:r>
              <a:rPr lang="ko-KR" altLang="en-US" dirty="0"/>
              <a:t>개인정보 보호 강화</a:t>
            </a:r>
            <a:r>
              <a:rPr lang="en-US" altLang="ko-KR" dirty="0"/>
              <a:t>'**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저희는 특정 사용자 없이 </a:t>
            </a:r>
            <a:r>
              <a:rPr lang="en-US" altLang="ko-KR" b="1" dirty="0"/>
              <a:t>'</a:t>
            </a:r>
            <a:r>
              <a:rPr lang="ko-KR" altLang="en-US" b="1" dirty="0"/>
              <a:t>누구나</a:t>
            </a:r>
            <a:r>
              <a:rPr lang="en-US" altLang="ko-KR" b="1" dirty="0"/>
              <a:t>'</a:t>
            </a:r>
            <a:r>
              <a:rPr lang="ko-KR" altLang="en-US" dirty="0"/>
              <a:t> 쉽게 쓰도록 웹으로 구축했기에</a:t>
            </a:r>
            <a:r>
              <a:rPr lang="en-US" altLang="ko-KR" dirty="0"/>
              <a:t>, </a:t>
            </a:r>
            <a:r>
              <a:rPr lang="ko-KR" altLang="en-US" dirty="0"/>
              <a:t>영상 편집이 필요한 </a:t>
            </a:r>
            <a:r>
              <a:rPr lang="ko-KR" altLang="en-US" b="1" dirty="0"/>
              <a:t>모든 사용자</a:t>
            </a:r>
            <a:r>
              <a:rPr lang="ko-KR" altLang="en-US" dirty="0"/>
              <a:t>에게 유용할 것입니다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결론입니다</a:t>
            </a:r>
            <a:r>
              <a:rPr lang="en-US" altLang="ko-KR" dirty="0"/>
              <a:t>. </a:t>
            </a:r>
            <a:r>
              <a:rPr lang="ko-KR" altLang="en-US" dirty="0"/>
              <a:t>저희는 자동화된 영상 개인정보보호 시스템을 </a:t>
            </a:r>
            <a:r>
              <a:rPr lang="ko-KR" altLang="en-US" b="1" dirty="0"/>
              <a:t>누구나 쉽게 쓰는 웹 서비스로 구현</a:t>
            </a:r>
            <a:r>
              <a:rPr lang="ko-KR" altLang="en-US" dirty="0"/>
              <a:t>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향후에는 </a:t>
            </a:r>
            <a:r>
              <a:rPr lang="en-US" altLang="ko-KR" dirty="0"/>
              <a:t>'</a:t>
            </a:r>
            <a:r>
              <a:rPr lang="ko-KR" altLang="en-US" dirty="0"/>
              <a:t>얼굴</a:t>
            </a:r>
            <a:r>
              <a:rPr lang="en-US" altLang="ko-KR" dirty="0"/>
              <a:t>' </a:t>
            </a:r>
            <a:r>
              <a:rPr lang="ko-KR" altLang="en-US" dirty="0"/>
              <a:t>외에 </a:t>
            </a:r>
            <a:r>
              <a:rPr lang="en-US" altLang="ko-KR" b="1" dirty="0"/>
              <a:t>'</a:t>
            </a:r>
            <a:r>
              <a:rPr lang="ko-KR" altLang="en-US" b="1" dirty="0"/>
              <a:t>번호판</a:t>
            </a:r>
            <a:r>
              <a:rPr lang="en-US" altLang="ko-KR" b="1" dirty="0"/>
              <a:t>', '</a:t>
            </a:r>
            <a:r>
              <a:rPr lang="ko-KR" altLang="en-US" b="1" dirty="0"/>
              <a:t>문서</a:t>
            </a:r>
            <a:r>
              <a:rPr lang="en-US" altLang="ko-KR" b="1" dirty="0"/>
              <a:t>'</a:t>
            </a:r>
            <a:r>
              <a:rPr lang="ko-KR" altLang="en-US" dirty="0"/>
              <a:t> 등 더 많은 개인정보를 탐지하고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나아가 이 요소가 </a:t>
            </a:r>
            <a:r>
              <a:rPr lang="ko-KR" altLang="en-US" b="1" dirty="0"/>
              <a:t>무엇인지 자동으로 분류</a:t>
            </a:r>
            <a:r>
              <a:rPr lang="ko-KR" altLang="en-US" dirty="0"/>
              <a:t>하는 기능까지 확장할 계획입니다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이상으로</a:t>
            </a:r>
            <a:r>
              <a:rPr lang="en-US" altLang="ko-KR" b="0" dirty="0"/>
              <a:t> </a:t>
            </a:r>
            <a:r>
              <a:rPr lang="ko-KR" altLang="en-US" b="0" dirty="0"/>
              <a:t>발표를 마치겠습니다</a:t>
            </a:r>
            <a:r>
              <a:rPr lang="en-US" altLang="ko-KR" b="0" dirty="0"/>
              <a:t>. </a:t>
            </a:r>
            <a:r>
              <a:rPr lang="ko-KR" altLang="en-US" b="0" dirty="0"/>
              <a:t>감사합니다</a:t>
            </a:r>
            <a:r>
              <a:rPr lang="en-US" altLang="ko-KR" b="0" dirty="0"/>
              <a:t>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1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11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10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11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11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10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11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181350" cy="2705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0" y="4705350"/>
            <a:ext cx="2438400" cy="2438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76250"/>
            <a:ext cx="2667000" cy="304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244" y="1257494"/>
            <a:ext cx="1866511" cy="186651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8117" y="3362617"/>
            <a:ext cx="2799767" cy="279976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1962150"/>
            <a:ext cx="8534400" cy="2933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6920" y="4133850"/>
            <a:ext cx="6096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5331" y="4133850"/>
            <a:ext cx="609600" cy="381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2209800" y="2511879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</a:t>
            </a:r>
            <a:r>
              <a:rPr lang="ko-KR" alt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기반 영상 얼굴</a:t>
            </a: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자동 </a:t>
            </a:r>
            <a:r>
              <a:rPr lang="en-US" sz="36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블러</a:t>
            </a: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36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처리</a:t>
            </a:r>
            <a:endParaRPr lang="en-US" sz="3600" b="1" dirty="0">
              <a:solidFill>
                <a:srgbClr val="1F2937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 algn="ctr">
              <a:buNone/>
            </a:pPr>
            <a:r>
              <a:rPr lang="en-US" sz="36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웹서비스</a:t>
            </a: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구현</a:t>
            </a:r>
            <a:endParaRPr lang="en-US" sz="3600" dirty="0"/>
          </a:p>
        </p:txBody>
      </p:sp>
      <p:sp>
        <p:nvSpPr>
          <p:cNvPr id="15" name="Text 2"/>
          <p:cNvSpPr/>
          <p:nvPr/>
        </p:nvSpPr>
        <p:spPr>
          <a:xfrm>
            <a:off x="3555593" y="4019550"/>
            <a:ext cx="50808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/>
              <a:t>ICT</a:t>
            </a:r>
            <a:r>
              <a:rPr lang="ko-KR" altLang="en-US" sz="1500" dirty="0" err="1"/>
              <a:t>폴리텍대학</a:t>
            </a:r>
            <a:r>
              <a:rPr lang="ko-KR" altLang="en-US" sz="1500" dirty="0"/>
              <a:t> 조장 윤성빈</a:t>
            </a:r>
            <a:r>
              <a:rPr lang="en-US" altLang="ko-KR" sz="1500" dirty="0"/>
              <a:t>, </a:t>
            </a:r>
            <a:r>
              <a:rPr lang="ko-KR" altLang="en-US" sz="1500" dirty="0"/>
              <a:t>조원 </a:t>
            </a:r>
            <a:r>
              <a:rPr lang="ko-KR" altLang="en-US" sz="1500" dirty="0" err="1"/>
              <a:t>손임지</a:t>
            </a:r>
            <a:endParaRPr lang="en-US" sz="1500" dirty="0"/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4FD0E764-ADF4-9AD8-CF16-FE88C90B56A7}"/>
              </a:ext>
            </a:extLst>
          </p:cNvPr>
          <p:cNvSpPr/>
          <p:nvPr/>
        </p:nvSpPr>
        <p:spPr>
          <a:xfrm>
            <a:off x="9529316" y="6362700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33500"/>
            <a:ext cx="381000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1390650"/>
            <a:ext cx="190500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943100"/>
            <a:ext cx="54864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1336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933700"/>
            <a:ext cx="54864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124200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924300"/>
            <a:ext cx="5486400" cy="952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114800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3335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3650" y="139065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943100"/>
            <a:ext cx="5486400" cy="952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21336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3124200"/>
            <a:ext cx="5486400" cy="952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31470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4305300"/>
            <a:ext cx="5486400" cy="952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4495800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및 배경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990600" y="1371600"/>
            <a:ext cx="1173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876300" y="2095500"/>
            <a:ext cx="4274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개인정보보호의 어려움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876300" y="2362200"/>
            <a:ext cx="51297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수술실 영상 반출 시 수작업 블러 처리에 많은 시간과 노력이 낭비됩니다.</a:t>
            </a:r>
            <a:endParaRPr lang="en-US" sz="1050" dirty="0"/>
          </a:p>
        </p:txBody>
      </p:sp>
      <p:sp>
        <p:nvSpPr>
          <p:cNvPr id="24" name="Text 4"/>
          <p:cNvSpPr/>
          <p:nvPr/>
        </p:nvSpPr>
        <p:spPr>
          <a:xfrm>
            <a:off x="857250" y="3086100"/>
            <a:ext cx="4163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영구 삭제의 불가능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857250" y="3352800"/>
            <a:ext cx="49963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CCTV 영상이나 인터넷에 한번 올라간 영상은 영구 삭제가 어렵습니다.</a:t>
            </a:r>
            <a:endParaRPr lang="en-US" sz="1050" dirty="0"/>
          </a:p>
        </p:txBody>
      </p:sp>
      <p:sp>
        <p:nvSpPr>
          <p:cNvPr id="26" name="Text 6"/>
          <p:cNvSpPr/>
          <p:nvPr/>
        </p:nvSpPr>
        <p:spPr>
          <a:xfrm>
            <a:off x="914400" y="40767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이슈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914400" y="4343400"/>
            <a:ext cx="487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혐오 논란 등 이슈 영상의 무분별한 공유가 발생하며, 일반 사용자들의 사생활 침해 방지 인식 부족이 심각합니다.</a:t>
            </a:r>
            <a:endParaRPr lang="en-US" sz="1050" dirty="0"/>
          </a:p>
        </p:txBody>
      </p:sp>
      <p:sp>
        <p:nvSpPr>
          <p:cNvPr id="28" name="Text 8"/>
          <p:cNvSpPr/>
          <p:nvPr/>
        </p:nvSpPr>
        <p:spPr>
          <a:xfrm>
            <a:off x="6781800" y="1371600"/>
            <a:ext cx="548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</a:t>
            </a:r>
            <a:endParaRPr lang="en-US" sz="1800" dirty="0"/>
          </a:p>
        </p:txBody>
      </p:sp>
      <p:sp>
        <p:nvSpPr>
          <p:cNvPr id="29" name="Text 9"/>
          <p:cNvSpPr/>
          <p:nvPr/>
        </p:nvSpPr>
        <p:spPr>
          <a:xfrm>
            <a:off x="6667500" y="20955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소요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6667500" y="2362200"/>
            <a:ext cx="4914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내 얼굴을 수작업으로 블러 처리하는 것은 매우 번거롭고 시간이 오래 걸립니다.</a:t>
            </a:r>
            <a:endParaRPr lang="en-US" sz="1050" dirty="0"/>
          </a:p>
        </p:txBody>
      </p:sp>
      <p:sp>
        <p:nvSpPr>
          <p:cNvPr id="31" name="Text 11"/>
          <p:cNvSpPr/>
          <p:nvPr/>
        </p:nvSpPr>
        <p:spPr>
          <a:xfrm>
            <a:off x="6705600" y="32766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솔루션의 필요성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6705600" y="3543300"/>
            <a:ext cx="487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개인정보 보호는 필수적이지만, 수작업 편집은 매우 번거롭기 때문에 자동화된 솔루션의 필요성이 대두되었습니다.</a:t>
            </a:r>
            <a:endParaRPr lang="en-US" sz="1050" dirty="0"/>
          </a:p>
        </p:txBody>
      </p:sp>
      <p:sp>
        <p:nvSpPr>
          <p:cNvPr id="33" name="Text 13"/>
          <p:cNvSpPr/>
          <p:nvPr/>
        </p:nvSpPr>
        <p:spPr>
          <a:xfrm>
            <a:off x="6667500" y="44577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기술의 활용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6667500" y="4724400"/>
            <a:ext cx="4914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기술을 활용한 자동 얼굴 탐지 및 블러 처리는 시간 효율성을 높일 수 있는 가능성을 제공합니다.</a:t>
            </a:r>
            <a:endParaRPr lang="en-US" sz="1050" dirty="0"/>
          </a:p>
        </p:txBody>
      </p:sp>
      <p:sp>
        <p:nvSpPr>
          <p:cNvPr id="35" name="Text 15"/>
          <p:cNvSpPr/>
          <p:nvPr/>
        </p:nvSpPr>
        <p:spPr>
          <a:xfrm>
            <a:off x="-670560" y="5562600"/>
            <a:ext cx="1353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"개인정보 보호의 중요성이 증대됨에 따라 영상 내 개인정보(특히 얼굴) 보호에 대한 필요성이 커지고 있습니다."</a:t>
            </a:r>
            <a:endParaRPr lang="en-US" sz="1200" dirty="0"/>
          </a:p>
        </p:txBody>
      </p:sp>
      <p:sp>
        <p:nvSpPr>
          <p:cNvPr id="36" name="Text 16"/>
          <p:cNvSpPr/>
          <p:nvPr/>
        </p:nvSpPr>
        <p:spPr>
          <a:xfrm>
            <a:off x="9529316" y="6362700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71700"/>
            <a:ext cx="5524500" cy="1257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400300"/>
            <a:ext cx="457200" cy="5429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5146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171700"/>
            <a:ext cx="5524500" cy="1257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2400300"/>
            <a:ext cx="457200" cy="5429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25146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657600"/>
            <a:ext cx="5524500" cy="1257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886200"/>
            <a:ext cx="457200" cy="5429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40005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3657600"/>
            <a:ext cx="5524500" cy="1257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3886200"/>
            <a:ext cx="457200" cy="5429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40005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143500"/>
            <a:ext cx="11277600" cy="1028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372100"/>
            <a:ext cx="457200" cy="5429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5486400"/>
            <a:ext cx="228600" cy="3048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457200" y="1333500"/>
            <a:ext cx="11277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프로젝트의 핵심 목표는 사용자가 영상을 업로드하면 AI 기반 얼굴 탐지 및 블러 처리가 자동으로 이루어지는 웹 서비스를 제공하는 것입니다.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295400" y="24003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기반 영상 업로드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1295400" y="27432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쉽게 영상을 웹 인터페이스를 통해 업로드할 수 있는 기능 제공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7048500" y="24003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얼굴 탐지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7048500" y="27432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업로드된 영상에서 AI 기술을 활용하여 자동으로 얼굴을 탐지하는 기능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1295400" y="38862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블러 처리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1295400" y="42291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탐지된 얼굴에 대해 자동으로 블러 처리를 적용하여 개인정보를 보호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7048500" y="38862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편집 기능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7048500" y="42291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블러 처리된 얼굴을 선택적으로 해제하거나 추가할 수 있는 편집 UI 제공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1295400" y="5372100"/>
            <a:ext cx="50800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영상 다운로드</a:t>
            </a:r>
            <a:endParaRPr lang="en-US" sz="1500" dirty="0"/>
          </a:p>
        </p:txBody>
      </p:sp>
      <p:sp>
        <p:nvSpPr>
          <p:cNvPr id="30" name="Text 11"/>
          <p:cNvSpPr/>
          <p:nvPr/>
        </p:nvSpPr>
        <p:spPr>
          <a:xfrm>
            <a:off x="1295400" y="5715000"/>
            <a:ext cx="60961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블러 처리 및 편집이 완료된 최종 영상을 쉽게 다운로드할 수 있는 기능 제공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9529316" y="6362700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887812-F3F1-EF5A-DF0A-BDDD3478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A8A6CEB-A9AB-172A-4071-9FFA2AD78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F119E262-F9C3-C632-EEC9-44670E959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sp>
        <p:nvSpPr>
          <p:cNvPr id="19" name="Text 0">
            <a:extLst>
              <a:ext uri="{FF2B5EF4-FFF2-40B4-BE49-F238E27FC236}">
                <a16:creationId xmlns:a16="http://schemas.microsoft.com/office/drawing/2014/main" id="{01DEF109-1CB2-FD1A-DF14-7743D7425C69}"/>
              </a:ext>
            </a:extLst>
          </p:cNvPr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</a:t>
            </a:r>
            <a:endParaRPr lang="en-US" sz="27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86DC1108-66CB-A3EB-F48C-B260D38A968F}"/>
              </a:ext>
            </a:extLst>
          </p:cNvPr>
          <p:cNvSpPr/>
          <p:nvPr/>
        </p:nvSpPr>
        <p:spPr>
          <a:xfrm>
            <a:off x="9529316" y="6362700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  <p:pic>
        <p:nvPicPr>
          <p:cNvPr id="33" name="그림 32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F7A7C7-6F8C-C6A1-8052-FFAAE67AF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2657" y="1028700"/>
            <a:ext cx="8406685" cy="525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752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22008F-121A-20D0-04C5-127FD65EC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0A59BDF-199F-44BA-7C50-43EC3B185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86F2B84-1FC9-E28C-04C9-2798AD48C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51BF1EAE-A32E-74C0-7192-E307268B4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7300"/>
            <a:ext cx="5486400" cy="38481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B0AD68FF-97E1-27F8-798B-5EF70E550C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47800"/>
            <a:ext cx="257175" cy="2286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0FEED868-1C68-EF1E-436D-6650A2A64E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53390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4E7C7F08-DD42-6D9D-F2EB-D50FD56FFC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46482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7D53A101-0768-191B-59F0-1DB40DC98D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257300"/>
            <a:ext cx="5486400" cy="40767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D5687705-7269-772E-2607-DA02F3656D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1447800"/>
            <a:ext cx="285750" cy="2286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A19332FE-56F3-87DD-AA5A-1BAD5D195D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866900"/>
            <a:ext cx="2514600" cy="1143000"/>
          </a:xfrm>
          <a:prstGeom prst="rect">
            <a:avLst/>
          </a:prstGeom>
        </p:spPr>
      </p:pic>
      <p:pic>
        <p:nvPicPr>
          <p:cNvPr id="18" name="Image 16" descr="preencoded.png">
            <a:extLst>
              <a:ext uri="{FF2B5EF4-FFF2-40B4-BE49-F238E27FC236}">
                <a16:creationId xmlns:a16="http://schemas.microsoft.com/office/drawing/2014/main" id="{621361C6-62CB-751B-CBFE-838300CBE58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2028825"/>
            <a:ext cx="219075" cy="17145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5208DC6B-A6E6-C4C0-A26E-115D96BBAB9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67800" y="1866900"/>
            <a:ext cx="2514600" cy="1143000"/>
          </a:xfrm>
          <a:prstGeom prst="rect">
            <a:avLst/>
          </a:prstGeom>
        </p:spPr>
      </p:pic>
      <p:pic>
        <p:nvPicPr>
          <p:cNvPr id="20" name="Image 18" descr="preencoded.png">
            <a:extLst>
              <a:ext uri="{FF2B5EF4-FFF2-40B4-BE49-F238E27FC236}">
                <a16:creationId xmlns:a16="http://schemas.microsoft.com/office/drawing/2014/main" id="{728A98FF-085B-85AD-BDFD-3E99621907E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82100" y="2028825"/>
            <a:ext cx="190500" cy="171450"/>
          </a:xfrm>
          <a:prstGeom prst="rect">
            <a:avLst/>
          </a:prstGeom>
        </p:spPr>
      </p:pic>
      <p:pic>
        <p:nvPicPr>
          <p:cNvPr id="21" name="Image 19" descr="preencoded.png">
            <a:extLst>
              <a:ext uri="{FF2B5EF4-FFF2-40B4-BE49-F238E27FC236}">
                <a16:creationId xmlns:a16="http://schemas.microsoft.com/office/drawing/2014/main" id="{0008C7B4-B6DC-C0BA-6AB2-82C86C3D099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162300"/>
            <a:ext cx="2514600" cy="1143000"/>
          </a:xfrm>
          <a:prstGeom prst="rect">
            <a:avLst/>
          </a:prstGeom>
        </p:spPr>
      </p:pic>
      <p:pic>
        <p:nvPicPr>
          <p:cNvPr id="22" name="Image 20" descr="preencoded.png">
            <a:extLst>
              <a:ext uri="{FF2B5EF4-FFF2-40B4-BE49-F238E27FC236}">
                <a16:creationId xmlns:a16="http://schemas.microsoft.com/office/drawing/2014/main" id="{73B33D2D-8DE3-F194-2976-E13403C907F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3324225"/>
            <a:ext cx="171450" cy="171450"/>
          </a:xfrm>
          <a:prstGeom prst="rect">
            <a:avLst/>
          </a:prstGeom>
        </p:spPr>
      </p:pic>
      <p:pic>
        <p:nvPicPr>
          <p:cNvPr id="23" name="Image 21" descr="preencoded.png">
            <a:extLst>
              <a:ext uri="{FF2B5EF4-FFF2-40B4-BE49-F238E27FC236}">
                <a16:creationId xmlns:a16="http://schemas.microsoft.com/office/drawing/2014/main" id="{F2F64A9E-8FD6-A665-51D9-AABCA47E3C8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67800" y="3162300"/>
            <a:ext cx="2514600" cy="1143000"/>
          </a:xfrm>
          <a:prstGeom prst="rect">
            <a:avLst/>
          </a:prstGeom>
        </p:spPr>
      </p:pic>
      <p:pic>
        <p:nvPicPr>
          <p:cNvPr id="24" name="Image 22" descr="preencoded.png">
            <a:extLst>
              <a:ext uri="{FF2B5EF4-FFF2-40B4-BE49-F238E27FC236}">
                <a16:creationId xmlns:a16="http://schemas.microsoft.com/office/drawing/2014/main" id="{3B40B00B-1215-A746-D1A4-2BD224110B9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82100" y="3324225"/>
            <a:ext cx="152400" cy="171450"/>
          </a:xfrm>
          <a:prstGeom prst="rect">
            <a:avLst/>
          </a:prstGeom>
        </p:spPr>
      </p:pic>
      <p:pic>
        <p:nvPicPr>
          <p:cNvPr id="25" name="Image 23" descr="preencoded.png">
            <a:extLst>
              <a:ext uri="{FF2B5EF4-FFF2-40B4-BE49-F238E27FC236}">
                <a16:creationId xmlns:a16="http://schemas.microsoft.com/office/drawing/2014/main" id="{0618E364-200B-296E-FBEE-B8576EEC58D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4495800"/>
            <a:ext cx="5181600" cy="609600"/>
          </a:xfrm>
          <a:prstGeom prst="rect">
            <a:avLst/>
          </a:prstGeom>
        </p:spPr>
      </p:pic>
      <p:pic>
        <p:nvPicPr>
          <p:cNvPr id="26" name="Image 24" descr="preencoded.png">
            <a:extLst>
              <a:ext uri="{FF2B5EF4-FFF2-40B4-BE49-F238E27FC236}">
                <a16:creationId xmlns:a16="http://schemas.microsoft.com/office/drawing/2014/main" id="{45111496-DB30-F6BC-E800-5A671BE84E3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5100" y="4733925"/>
            <a:ext cx="104775" cy="133350"/>
          </a:xfrm>
          <a:prstGeom prst="rect">
            <a:avLst/>
          </a:prstGeom>
        </p:spPr>
      </p:pic>
      <p:sp>
        <p:nvSpPr>
          <p:cNvPr id="27" name="Text 0">
            <a:extLst>
              <a:ext uri="{FF2B5EF4-FFF2-40B4-BE49-F238E27FC236}">
                <a16:creationId xmlns:a16="http://schemas.microsoft.com/office/drawing/2014/main" id="{B2128967-4DC3-E05C-2D4E-BCCF5FE3DAC3}"/>
              </a:ext>
            </a:extLst>
          </p:cNvPr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및 기술 스택</a:t>
            </a:r>
            <a:endParaRPr lang="en-US" sz="27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23531E33-394F-B366-E4AE-820E2D2745F3}"/>
              </a:ext>
            </a:extLst>
          </p:cNvPr>
          <p:cNvSpPr/>
          <p:nvPr/>
        </p:nvSpPr>
        <p:spPr>
          <a:xfrm>
            <a:off x="981075" y="1409700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</a:t>
            </a:r>
            <a:endParaRPr lang="en-US" sz="18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DF56CD4D-FF1B-1CE6-9A87-5A7313A3B2B7}"/>
              </a:ext>
            </a:extLst>
          </p:cNvPr>
          <p:cNvSpPr/>
          <p:nvPr/>
        </p:nvSpPr>
        <p:spPr>
          <a:xfrm>
            <a:off x="1104900" y="4495800"/>
            <a:ext cx="3837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영상 다운로드</a:t>
            </a:r>
            <a:endParaRPr lang="en-US" sz="135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17BFC64E-8099-4BA9-DCC2-A2A6953519E8}"/>
              </a:ext>
            </a:extLst>
          </p:cNvPr>
          <p:cNvSpPr/>
          <p:nvPr/>
        </p:nvSpPr>
        <p:spPr>
          <a:xfrm>
            <a:off x="1104900" y="4762500"/>
            <a:ext cx="46052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블러 처리 및 편집이 완료된 최종 영상을 다운로드할 수 있습니다.</a:t>
            </a:r>
            <a:endParaRPr lang="en-US" sz="105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58F07D62-6E4C-CEDB-9B0B-8758739C0CB7}"/>
              </a:ext>
            </a:extLst>
          </p:cNvPr>
          <p:cNvSpPr/>
          <p:nvPr/>
        </p:nvSpPr>
        <p:spPr>
          <a:xfrm>
            <a:off x="6800850" y="1409700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8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15333C07-6FAE-EBF3-1B0B-5152379055EC}"/>
              </a:ext>
            </a:extLst>
          </p:cNvPr>
          <p:cNvSpPr/>
          <p:nvPr/>
        </p:nvSpPr>
        <p:spPr>
          <a:xfrm>
            <a:off x="6810375" y="19812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35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E988E88B-4229-9BEB-BBAF-761BA498A287}"/>
              </a:ext>
            </a:extLst>
          </p:cNvPr>
          <p:cNvSpPr/>
          <p:nvPr/>
        </p:nvSpPr>
        <p:spPr>
          <a:xfrm>
            <a:off x="6581775" y="23241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HTML/JS</a:t>
            </a:r>
            <a:endParaRPr lang="en-US" sz="1050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257AA943-EB5B-5300-3430-45F18DBC962C}"/>
              </a:ext>
            </a:extLst>
          </p:cNvPr>
          <p:cNvSpPr/>
          <p:nvPr/>
        </p:nvSpPr>
        <p:spPr>
          <a:xfrm>
            <a:off x="9448800" y="19812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처리</a:t>
            </a:r>
            <a:endParaRPr lang="en-US" sz="1350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3F89068E-35A4-B4EF-871D-57DEEDB33421}"/>
              </a:ext>
            </a:extLst>
          </p:cNvPr>
          <p:cNvSpPr/>
          <p:nvPr/>
        </p:nvSpPr>
        <p:spPr>
          <a:xfrm>
            <a:off x="9248775" y="23241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FFmpeg</a:t>
            </a:r>
            <a:endParaRPr lang="en-US" sz="105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3FC6E7C8-6770-9F6F-898F-A33392DEC389}"/>
              </a:ext>
            </a:extLst>
          </p:cNvPr>
          <p:cNvSpPr/>
          <p:nvPr/>
        </p:nvSpPr>
        <p:spPr>
          <a:xfrm>
            <a:off x="9248775" y="25146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OpenCV</a:t>
            </a:r>
            <a:endParaRPr lang="en-US" sz="105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E078C583-D304-BA6E-CFF9-2C8E7211DEB0}"/>
              </a:ext>
            </a:extLst>
          </p:cNvPr>
          <p:cNvSpPr/>
          <p:nvPr/>
        </p:nvSpPr>
        <p:spPr>
          <a:xfrm>
            <a:off x="9248775" y="27051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</a:t>
            </a:r>
            <a:endParaRPr lang="en-US" sz="105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CA0068DE-5D4F-814C-F395-0258886A1A8A}"/>
              </a:ext>
            </a:extLst>
          </p:cNvPr>
          <p:cNvSpPr/>
          <p:nvPr/>
        </p:nvSpPr>
        <p:spPr>
          <a:xfrm>
            <a:off x="6762750" y="32766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</a:t>
            </a:r>
            <a:endParaRPr lang="en-US" sz="1350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D0BF5857-CFED-3449-480C-B0022EDEF02A}"/>
              </a:ext>
            </a:extLst>
          </p:cNvPr>
          <p:cNvSpPr/>
          <p:nvPr/>
        </p:nvSpPr>
        <p:spPr>
          <a:xfrm>
            <a:off x="6581775" y="36195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105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219D24A6-A515-CFCB-B2A0-AECB8849D484}"/>
              </a:ext>
            </a:extLst>
          </p:cNvPr>
          <p:cNvSpPr/>
          <p:nvPr/>
        </p:nvSpPr>
        <p:spPr>
          <a:xfrm>
            <a:off x="6581775" y="38100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Flask</a:t>
            </a:r>
            <a:endParaRPr lang="en-US" sz="1050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7925ECEE-206B-96A5-F5A8-F9F0B58A0968}"/>
              </a:ext>
            </a:extLst>
          </p:cNvPr>
          <p:cNvSpPr/>
          <p:nvPr/>
        </p:nvSpPr>
        <p:spPr>
          <a:xfrm>
            <a:off x="9410700" y="32766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</a:t>
            </a:r>
            <a:endParaRPr lang="en-US" sz="1350" dirty="0"/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26ACBECB-260B-FB2C-17A7-9DC2D62BEB52}"/>
              </a:ext>
            </a:extLst>
          </p:cNvPr>
          <p:cNvSpPr/>
          <p:nvPr/>
        </p:nvSpPr>
        <p:spPr>
          <a:xfrm>
            <a:off x="9248775" y="36195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SQLite</a:t>
            </a:r>
            <a:endParaRPr lang="en-US" sz="1050" dirty="0"/>
          </a:p>
        </p:txBody>
      </p:sp>
      <p:sp>
        <p:nvSpPr>
          <p:cNvPr id="57" name="Text 30">
            <a:extLst>
              <a:ext uri="{FF2B5EF4-FFF2-40B4-BE49-F238E27FC236}">
                <a16:creationId xmlns:a16="http://schemas.microsoft.com/office/drawing/2014/main" id="{90FCD347-2EB0-0B10-F546-099663E022C0}"/>
              </a:ext>
            </a:extLst>
          </p:cNvPr>
          <p:cNvSpPr/>
          <p:nvPr/>
        </p:nvSpPr>
        <p:spPr>
          <a:xfrm>
            <a:off x="6696075" y="4610100"/>
            <a:ext cx="4772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서비스는 React 프론트엔드와 Python 백엔드로 구성되어, OpenCV 및 YOLO 기술을 이용한 얼굴 탐지와 블러 처리 기능을 제공합니다.</a:t>
            </a:r>
            <a:endParaRPr lang="en-US" sz="105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0E86FC4-3DA7-CFE0-AE89-F59658AF47C3}"/>
              </a:ext>
            </a:extLst>
          </p:cNvPr>
          <p:cNvGrpSpPr/>
          <p:nvPr/>
        </p:nvGrpSpPr>
        <p:grpSpPr>
          <a:xfrm>
            <a:off x="609600" y="1882623"/>
            <a:ext cx="5216069" cy="457200"/>
            <a:chOff x="609600" y="3086100"/>
            <a:chExt cx="5216069" cy="457200"/>
          </a:xfrm>
        </p:grpSpPr>
        <p:pic>
          <p:nvPicPr>
            <p:cNvPr id="11" name="Image 7" descr="preencoded.png">
              <a:extLst>
                <a:ext uri="{FF2B5EF4-FFF2-40B4-BE49-F238E27FC236}">
                  <a16:creationId xmlns:a16="http://schemas.microsoft.com/office/drawing/2014/main" id="{BF8A0539-5259-94C5-B67C-2976EE99F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09600" y="3124200"/>
              <a:ext cx="381000" cy="381000"/>
            </a:xfrm>
            <a:prstGeom prst="rect">
              <a:avLst/>
            </a:prstGeom>
          </p:spPr>
        </p:pic>
        <p:pic>
          <p:nvPicPr>
            <p:cNvPr id="12" name="Image 8" descr="preencoded.png">
              <a:extLst>
                <a:ext uri="{FF2B5EF4-FFF2-40B4-BE49-F238E27FC236}">
                  <a16:creationId xmlns:a16="http://schemas.microsoft.com/office/drawing/2014/main" id="{392E2BDD-E116-76BB-7CD6-4ADA3A108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04850" y="3238500"/>
              <a:ext cx="190500" cy="152400"/>
            </a:xfrm>
            <a:prstGeom prst="rect">
              <a:avLst/>
            </a:prstGeom>
          </p:spPr>
        </p:pic>
        <p:sp>
          <p:nvSpPr>
            <p:cNvPr id="33" name="Text 6">
              <a:extLst>
                <a:ext uri="{FF2B5EF4-FFF2-40B4-BE49-F238E27FC236}">
                  <a16:creationId xmlns:a16="http://schemas.microsoft.com/office/drawing/2014/main" id="{FCE82354-42E3-661F-77E4-10891896298D}"/>
                </a:ext>
              </a:extLst>
            </p:cNvPr>
            <p:cNvSpPr/>
            <p:nvPr/>
          </p:nvSpPr>
          <p:spPr>
            <a:xfrm>
              <a:off x="1104900" y="3086100"/>
              <a:ext cx="393397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1A3A5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웹 기반 영상 업로드</a:t>
              </a:r>
              <a:endParaRPr lang="en-US" sz="1350" dirty="0"/>
            </a:p>
          </p:txBody>
        </p:sp>
        <p:sp>
          <p:nvSpPr>
            <p:cNvPr id="34" name="Text 7">
              <a:extLst>
                <a:ext uri="{FF2B5EF4-FFF2-40B4-BE49-F238E27FC236}">
                  <a16:creationId xmlns:a16="http://schemas.microsoft.com/office/drawing/2014/main" id="{6D2F2F73-2BF2-1CF0-2C84-F5CFDB7272ED}"/>
                </a:ext>
              </a:extLst>
            </p:cNvPr>
            <p:cNvSpPr/>
            <p:nvPr/>
          </p:nvSpPr>
          <p:spPr>
            <a:xfrm>
              <a:off x="1104900" y="3352800"/>
              <a:ext cx="4720769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사용자가 웹 인터페이스를 통해 쉽게 영상을 업로드할 수 있습니다.</a:t>
              </a:r>
              <a:endParaRPr lang="en-US" sz="105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F71B76A-A61D-2F31-B0A9-DDC583790FFB}"/>
              </a:ext>
            </a:extLst>
          </p:cNvPr>
          <p:cNvGrpSpPr/>
          <p:nvPr/>
        </p:nvGrpSpPr>
        <p:grpSpPr>
          <a:xfrm>
            <a:off x="604886" y="2492223"/>
            <a:ext cx="5322868" cy="457200"/>
            <a:chOff x="609600" y="1866900"/>
            <a:chExt cx="5322868" cy="457200"/>
          </a:xfrm>
        </p:grpSpPr>
        <p:pic>
          <p:nvPicPr>
            <p:cNvPr id="36" name="Image 4" descr="preencoded.png">
              <a:extLst>
                <a:ext uri="{FF2B5EF4-FFF2-40B4-BE49-F238E27FC236}">
                  <a16:creationId xmlns:a16="http://schemas.microsoft.com/office/drawing/2014/main" id="{B91E0548-9B61-FA09-A291-7CB7753A2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09600" y="1905000"/>
              <a:ext cx="381000" cy="381000"/>
            </a:xfrm>
            <a:prstGeom prst="rect">
              <a:avLst/>
            </a:prstGeom>
          </p:spPr>
        </p:pic>
        <p:pic>
          <p:nvPicPr>
            <p:cNvPr id="42" name="Image 5" descr="preencoded.png">
              <a:extLst>
                <a:ext uri="{FF2B5EF4-FFF2-40B4-BE49-F238E27FC236}">
                  <a16:creationId xmlns:a16="http://schemas.microsoft.com/office/drawing/2014/main" id="{CEC213AD-DEAA-95F1-AB08-AD5B6280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23900" y="2019300"/>
              <a:ext cx="152400" cy="152400"/>
            </a:xfrm>
            <a:prstGeom prst="rect">
              <a:avLst/>
            </a:prstGeom>
          </p:spPr>
        </p:pic>
        <p:sp>
          <p:nvSpPr>
            <p:cNvPr id="48" name="Text 2">
              <a:extLst>
                <a:ext uri="{FF2B5EF4-FFF2-40B4-BE49-F238E27FC236}">
                  <a16:creationId xmlns:a16="http://schemas.microsoft.com/office/drawing/2014/main" id="{4AFA0178-5846-5E7A-74D6-B169D2891988}"/>
                </a:ext>
              </a:extLst>
            </p:cNvPr>
            <p:cNvSpPr/>
            <p:nvPr/>
          </p:nvSpPr>
          <p:spPr>
            <a:xfrm>
              <a:off x="1104900" y="1866900"/>
              <a:ext cx="402297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1A3A5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 기반 얼굴 탐지</a:t>
              </a:r>
              <a:endParaRPr lang="en-US" sz="1350" dirty="0"/>
            </a:p>
          </p:txBody>
        </p:sp>
        <p:sp>
          <p:nvSpPr>
            <p:cNvPr id="52" name="Text 3">
              <a:extLst>
                <a:ext uri="{FF2B5EF4-FFF2-40B4-BE49-F238E27FC236}">
                  <a16:creationId xmlns:a16="http://schemas.microsoft.com/office/drawing/2014/main" id="{F73D855A-E791-3C7C-69E1-236D917269D1}"/>
                </a:ext>
              </a:extLst>
            </p:cNvPr>
            <p:cNvSpPr/>
            <p:nvPr/>
          </p:nvSpPr>
          <p:spPr>
            <a:xfrm>
              <a:off x="1104900" y="2133600"/>
              <a:ext cx="482756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업로드된 영상에서 AI 기술을 활용하여 자동으로 얼굴을 탐지합니다.</a:t>
              </a:r>
              <a:endParaRPr lang="en-US" sz="1050" dirty="0"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F0C52F47-D15E-F3F0-947D-8184E7806CE2}"/>
              </a:ext>
            </a:extLst>
          </p:cNvPr>
          <p:cNvGrpSpPr/>
          <p:nvPr/>
        </p:nvGrpSpPr>
        <p:grpSpPr>
          <a:xfrm>
            <a:off x="604886" y="3155646"/>
            <a:ext cx="4327029" cy="457200"/>
            <a:chOff x="609600" y="2476500"/>
            <a:chExt cx="4327029" cy="457200"/>
          </a:xfrm>
        </p:grpSpPr>
        <p:pic>
          <p:nvPicPr>
            <p:cNvPr id="56" name="Image 6" descr="preencoded.png">
              <a:extLst>
                <a:ext uri="{FF2B5EF4-FFF2-40B4-BE49-F238E27FC236}">
                  <a16:creationId xmlns:a16="http://schemas.microsoft.com/office/drawing/2014/main" id="{3DF36F76-4B9D-AC4A-D938-2AEEEC97B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09600" y="2514600"/>
              <a:ext cx="381000" cy="381000"/>
            </a:xfrm>
            <a:prstGeom prst="rect">
              <a:avLst/>
            </a:prstGeom>
          </p:spPr>
        </p:pic>
        <p:sp>
          <p:nvSpPr>
            <p:cNvPr id="59" name="Text 4">
              <a:extLst>
                <a:ext uri="{FF2B5EF4-FFF2-40B4-BE49-F238E27FC236}">
                  <a16:creationId xmlns:a16="http://schemas.microsoft.com/office/drawing/2014/main" id="{155BAB25-4AD7-9B76-6E91-1D0176A41BE6}"/>
                </a:ext>
              </a:extLst>
            </p:cNvPr>
            <p:cNvSpPr/>
            <p:nvPr/>
          </p:nvSpPr>
          <p:spPr>
            <a:xfrm>
              <a:off x="1104900" y="2476500"/>
              <a:ext cx="319310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1A3A5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자동 블러 처리</a:t>
              </a:r>
              <a:endParaRPr lang="en-US" sz="1350" dirty="0"/>
            </a:p>
          </p:txBody>
        </p:sp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3748F07E-4A56-BE21-6F43-A412BC155F24}"/>
                </a:ext>
              </a:extLst>
            </p:cNvPr>
            <p:cNvSpPr/>
            <p:nvPr/>
          </p:nvSpPr>
          <p:spPr>
            <a:xfrm>
              <a:off x="1104900" y="2743200"/>
              <a:ext cx="3831729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탐지된 얼굴에 대해 자동으로 블러 처리를 적용합니다.</a:t>
              </a:r>
              <a:endParaRPr lang="en-US" sz="1050" dirty="0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C44DE231-FEA2-179E-B9A4-5CA6A7F85ADC}"/>
              </a:ext>
            </a:extLst>
          </p:cNvPr>
          <p:cNvGrpSpPr/>
          <p:nvPr/>
        </p:nvGrpSpPr>
        <p:grpSpPr>
          <a:xfrm>
            <a:off x="609600" y="3771900"/>
            <a:ext cx="5181600" cy="647700"/>
            <a:chOff x="609600" y="3695700"/>
            <a:chExt cx="5181600" cy="647700"/>
          </a:xfrm>
        </p:grpSpPr>
        <p:pic>
          <p:nvPicPr>
            <p:cNvPr id="62" name="Image 9" descr="preencoded.png">
              <a:extLst>
                <a:ext uri="{FF2B5EF4-FFF2-40B4-BE49-F238E27FC236}">
                  <a16:creationId xmlns:a16="http://schemas.microsoft.com/office/drawing/2014/main" id="{5088FA6B-E804-0024-F18F-A29224857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09600" y="3733800"/>
              <a:ext cx="381000" cy="381000"/>
            </a:xfrm>
            <a:prstGeom prst="rect">
              <a:avLst/>
            </a:prstGeom>
          </p:spPr>
        </p:pic>
        <p:pic>
          <p:nvPicPr>
            <p:cNvPr id="63" name="Image 10" descr="preencoded.png">
              <a:extLst>
                <a:ext uri="{FF2B5EF4-FFF2-40B4-BE49-F238E27FC236}">
                  <a16:creationId xmlns:a16="http://schemas.microsoft.com/office/drawing/2014/main" id="{D74B265E-407F-E20D-CC41-E0D2187CE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723900" y="3848100"/>
              <a:ext cx="152400" cy="152400"/>
            </a:xfrm>
            <a:prstGeom prst="rect">
              <a:avLst/>
            </a:prstGeom>
          </p:spPr>
        </p:pic>
        <p:sp>
          <p:nvSpPr>
            <p:cNvPr id="64" name="Text 8">
              <a:extLst>
                <a:ext uri="{FF2B5EF4-FFF2-40B4-BE49-F238E27FC236}">
                  <a16:creationId xmlns:a16="http://schemas.microsoft.com/office/drawing/2014/main" id="{A48F166C-791A-060C-3B9D-B42C2FAD669C}"/>
                </a:ext>
              </a:extLst>
            </p:cNvPr>
            <p:cNvSpPr/>
            <p:nvPr/>
          </p:nvSpPr>
          <p:spPr>
            <a:xfrm>
              <a:off x="1104900" y="3695700"/>
              <a:ext cx="4686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1A3A5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UI 편집 기능</a:t>
              </a:r>
              <a:endParaRPr lang="en-US" sz="1350" dirty="0"/>
            </a:p>
          </p:txBody>
        </p:sp>
        <p:sp>
          <p:nvSpPr>
            <p:cNvPr id="75" name="Text 9">
              <a:extLst>
                <a:ext uri="{FF2B5EF4-FFF2-40B4-BE49-F238E27FC236}">
                  <a16:creationId xmlns:a16="http://schemas.microsoft.com/office/drawing/2014/main" id="{C7A4901D-6FD8-08CE-AAF2-7B6542236881}"/>
                </a:ext>
              </a:extLst>
            </p:cNvPr>
            <p:cNvSpPr/>
            <p:nvPr/>
          </p:nvSpPr>
          <p:spPr>
            <a:xfrm>
              <a:off x="1104900" y="3962400"/>
              <a:ext cx="46863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사용자가 블러 처리된 얼굴을 선택적으로 해제하거나 추가할 수 있는 편집 UI를 제공합니다.</a:t>
              </a:r>
              <a:endParaRPr lang="en-US" sz="1050" dirty="0"/>
            </a:p>
          </p:txBody>
        </p:sp>
      </p:grpSp>
      <p:sp>
        <p:nvSpPr>
          <p:cNvPr id="76" name="Text 12">
            <a:extLst>
              <a:ext uri="{FF2B5EF4-FFF2-40B4-BE49-F238E27FC236}">
                <a16:creationId xmlns:a16="http://schemas.microsoft.com/office/drawing/2014/main" id="{A2D178F2-D82A-F664-7440-15461D3F7583}"/>
              </a:ext>
            </a:extLst>
          </p:cNvPr>
          <p:cNvSpPr/>
          <p:nvPr/>
        </p:nvSpPr>
        <p:spPr>
          <a:xfrm>
            <a:off x="9529316" y="6362700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5482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954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714500"/>
            <a:ext cx="5410200" cy="1066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6215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20955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939143"/>
            <a:ext cx="5410200" cy="152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415393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050" y="3548743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1295400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714500"/>
            <a:ext cx="5410200" cy="1066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196215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8450" y="20955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2933700"/>
            <a:ext cx="5410200" cy="1295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329565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19875" y="3429000"/>
            <a:ext cx="28575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4381500"/>
            <a:ext cx="5410200" cy="1066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4629150"/>
            <a:ext cx="571500" cy="571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19875" y="4762500"/>
            <a:ext cx="285750" cy="3048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 및 활용 분야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762000" y="1257300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1333500" y="186690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절약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1333500" y="2171700"/>
            <a:ext cx="438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블러 처리 자동화로 인한 작업 시간 감소로 공공기관 및 의료기관의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절약할 수 있습니다.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1333500" y="3091543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개인정보보호 강화</a:t>
            </a:r>
            <a:endParaRPr lang="en-US" sz="1500" dirty="0"/>
          </a:p>
        </p:txBody>
      </p:sp>
      <p:sp>
        <p:nvSpPr>
          <p:cNvPr id="29" name="Text 6"/>
          <p:cNvSpPr/>
          <p:nvPr/>
        </p:nvSpPr>
        <p:spPr>
          <a:xfrm>
            <a:off x="1333500" y="3396343"/>
            <a:ext cx="438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및 커뮤니티 업로드 영상의 사생활 침해를 방지하여 개인정보보호를 강화할 수 있습니다. 자동화된 얼굴 인식 및 블러 처리로 인한 개인정보 노출 감소로 개인의 디지털 자산 보호에 기여합니다.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6686550" y="1257300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분야</a:t>
            </a:r>
            <a:endParaRPr lang="en-US" sz="1800" dirty="0"/>
          </a:p>
        </p:txBody>
      </p:sp>
      <p:sp>
        <p:nvSpPr>
          <p:cNvPr id="31" name="Text 8"/>
          <p:cNvSpPr/>
          <p:nvPr/>
        </p:nvSpPr>
        <p:spPr>
          <a:xfrm>
            <a:off x="7200900" y="186690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공공기관</a:t>
            </a:r>
            <a:endParaRPr lang="en-US" sz="1500" dirty="0"/>
          </a:p>
        </p:txBody>
      </p:sp>
      <p:sp>
        <p:nvSpPr>
          <p:cNvPr id="32" name="Text 9"/>
          <p:cNvSpPr/>
          <p:nvPr/>
        </p:nvSpPr>
        <p:spPr>
          <a:xfrm>
            <a:off x="7200900" y="2171700"/>
            <a:ext cx="438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민감한 정보가 포함된 영상을 처리해야 하는 경우, 자동 블러 처리로 시간을 절약하고 민감한 개인정보 보호에 기여합니다.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7200900" y="308610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의료기관</a:t>
            </a:r>
            <a:endParaRPr lang="en-US" sz="1500" dirty="0"/>
          </a:p>
        </p:txBody>
      </p:sp>
      <p:sp>
        <p:nvSpPr>
          <p:cNvPr id="34" name="Text 11"/>
          <p:cNvSpPr/>
          <p:nvPr/>
        </p:nvSpPr>
        <p:spPr>
          <a:xfrm>
            <a:off x="7200900" y="3390900"/>
            <a:ext cx="438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환자의 얼굴 같은 개인정보가 포함된 의료 영상에서 자동 블러 처리로 환자의 사생활을 보호하면서도 의료 정보의 공유를 가능하게 합니다.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7200900" y="453390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사용자</a:t>
            </a:r>
            <a:endParaRPr lang="en-US" sz="1500" dirty="0"/>
          </a:p>
        </p:txBody>
      </p:sp>
      <p:sp>
        <p:nvSpPr>
          <p:cNvPr id="36" name="Text 13"/>
          <p:cNvSpPr/>
          <p:nvPr/>
        </p:nvSpPr>
        <p:spPr>
          <a:xfrm>
            <a:off x="7200900" y="4838700"/>
            <a:ext cx="438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영상에서의 사생활 보호를 위해 누구나 쉽게 접근하고 사용할 수 있는 편리한 도구를 제공합니다.</a:t>
            </a:r>
            <a:endParaRPr lang="en-US" sz="1200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27DD5E95-EEB4-459F-394C-84145E4E1FE6}"/>
              </a:ext>
            </a:extLst>
          </p:cNvPr>
          <p:cNvSpPr/>
          <p:nvPr/>
        </p:nvSpPr>
        <p:spPr>
          <a:xfrm>
            <a:off x="9529316" y="6362700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33500"/>
            <a:ext cx="5486400" cy="47013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621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165735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2860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6670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0480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423644"/>
            <a:ext cx="5029200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595094"/>
            <a:ext cx="1143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333500"/>
            <a:ext cx="5486400" cy="47013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15621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0350" y="16573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23050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333375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4305300"/>
            <a:ext cx="5029200" cy="685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29400" y="4572000"/>
            <a:ext cx="142875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향후 계획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295400" y="1638300"/>
            <a:ext cx="1173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요약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952500" y="2247900"/>
            <a:ext cx="5242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영상 개인정보보호 시스템을 성공적으로 구현했습니다.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952500" y="262890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기반 편집 기능을 제공하여 누구나 쉽게 사용할 수 있도록 하였습니다.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952500" y="3009900"/>
            <a:ext cx="42469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얼굴 탐지 및 블러 처리 기능을 완료하였습니다.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066800" y="3576044"/>
            <a:ext cx="362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"개인정보보호는 누구나 쉽게 할 수 있어야 합니다."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7086600" y="1638300"/>
            <a:ext cx="1173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계획</a:t>
            </a:r>
            <a:endParaRPr lang="en-US" sz="1800" dirty="0"/>
          </a:p>
        </p:txBody>
      </p:sp>
      <p:sp>
        <p:nvSpPr>
          <p:cNvPr id="28" name="Text 8"/>
          <p:cNvSpPr/>
          <p:nvPr/>
        </p:nvSpPr>
        <p:spPr>
          <a:xfrm>
            <a:off x="6743700" y="2247900"/>
            <a:ext cx="24919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정의 객체 추가 기능</a:t>
            </a:r>
            <a:endParaRPr lang="en-US" sz="1350" dirty="0"/>
          </a:p>
        </p:txBody>
      </p:sp>
      <p:sp>
        <p:nvSpPr>
          <p:cNvPr id="29" name="Text 9"/>
          <p:cNvSpPr/>
          <p:nvPr/>
        </p:nvSpPr>
        <p:spPr>
          <a:xfrm>
            <a:off x="6781800" y="2590800"/>
            <a:ext cx="472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얼굴 외에 번호판, 문서 등 다른 개인정보 요소를 탐지하고 블러 처리하는 기능을 추가할 예정입니다.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6781800" y="3276600"/>
            <a:ext cx="22290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개인정보 요소 안내</a:t>
            </a:r>
            <a:endParaRPr lang="en-US" sz="1350" dirty="0"/>
          </a:p>
        </p:txBody>
      </p:sp>
      <p:sp>
        <p:nvSpPr>
          <p:cNvPr id="31" name="Text 11"/>
          <p:cNvSpPr/>
          <p:nvPr/>
        </p:nvSpPr>
        <p:spPr>
          <a:xfrm>
            <a:off x="6781800" y="3619500"/>
            <a:ext cx="472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내 개인정보 요소를 자동으로 식별하고 사용자에게 안내하는 기능을 구현할 예정입니다.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6886575" y="4457700"/>
            <a:ext cx="4467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앞으로 더 많은 개인정보 보호 기능을 추가하여, 사용자에게 더욱 편리하고 강화된 서비스를 제공할 것입니다.</a:t>
            </a:r>
            <a:endParaRPr lang="en-US" sz="1050" dirty="0"/>
          </a:p>
        </p:txBody>
      </p:sp>
      <p:sp>
        <p:nvSpPr>
          <p:cNvPr id="33" name="Text 13"/>
          <p:cNvSpPr/>
          <p:nvPr/>
        </p:nvSpPr>
        <p:spPr>
          <a:xfrm>
            <a:off x="9529316" y="6362700"/>
            <a:ext cx="26465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ICT폴리텍대학 2학년 | 졸업 프로젝트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</a:rPr>
              <a:t>맺음말</a:t>
            </a:r>
            <a:endParaRPr lang="en-US" sz="2700" dirty="0"/>
          </a:p>
        </p:txBody>
      </p:sp>
      <p:sp>
        <p:nvSpPr>
          <p:cNvPr id="34" name="Text 17"/>
          <p:cNvSpPr/>
          <p:nvPr/>
        </p:nvSpPr>
        <p:spPr>
          <a:xfrm>
            <a:off x="457200" y="3295650"/>
            <a:ext cx="1127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000" i="1" dirty="0">
                <a:solidFill>
                  <a:srgbClr val="1A3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"개인정보보호는 누구나 쉽게 할 수 있어야 합니다."</a:t>
            </a:r>
            <a:endParaRPr lang="en-US" sz="2000" dirty="0"/>
          </a:p>
        </p:txBody>
      </p:sp>
      <p:sp>
        <p:nvSpPr>
          <p:cNvPr id="35" name="Text 18"/>
          <p:cNvSpPr/>
          <p:nvPr/>
        </p:nvSpPr>
        <p:spPr>
          <a:xfrm>
            <a:off x="9452967" y="6362700"/>
            <a:ext cx="27381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있으시면 언제든지 말씀해주세요!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879</Words>
  <Application>Microsoft Office PowerPoint</Application>
  <PresentationFormat>와이드스크린</PresentationFormat>
  <Paragraphs>122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Noto Sans KR</vt:lpstr>
      <vt:lpstr>ui-sans-serif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윤성빈</cp:lastModifiedBy>
  <cp:revision>68</cp:revision>
  <dcterms:created xsi:type="dcterms:W3CDTF">2025-10-15T04:18:34Z</dcterms:created>
  <dcterms:modified xsi:type="dcterms:W3CDTF">2025-10-30T01:09:05Z</dcterms:modified>
</cp:coreProperties>
</file>