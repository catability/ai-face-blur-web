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79321" autoAdjust="0"/>
  </p:normalViewPr>
  <p:slideViewPr>
    <p:cSldViewPr snapToGrid="0" snapToObjects="1">
      <p:cViewPr>
        <p:scale>
          <a:sx n="63" d="100"/>
          <a:sy n="63" d="100"/>
        </p:scale>
        <p:origin x="11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945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자신감 있고 밝은 목소리로 시작</a:t>
            </a:r>
            <a:r>
              <a:rPr lang="en-US" altLang="ko-KR" b="1" dirty="0"/>
              <a:t>)</a:t>
            </a:r>
          </a:p>
          <a:p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안녕하십니까</a:t>
            </a:r>
            <a:r>
              <a:rPr lang="en-US" altLang="ko-KR" dirty="0"/>
              <a:t>? ICT</a:t>
            </a:r>
            <a:r>
              <a:rPr lang="ko-KR" altLang="en-US" dirty="0" err="1"/>
              <a:t>폴리텍대학</a:t>
            </a:r>
            <a:r>
              <a:rPr lang="ko-KR" altLang="en-US" dirty="0"/>
              <a:t> 정보보안학과 졸업 프로젝트 발표를 맡은 </a:t>
            </a:r>
            <a:r>
              <a:rPr lang="en-US" altLang="ko-KR" dirty="0"/>
              <a:t>OOO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여러분은 혹시 인터넷 뉴스나 </a:t>
            </a:r>
            <a:r>
              <a:rPr lang="en-US" altLang="ko-KR" dirty="0"/>
              <a:t>SNS</a:t>
            </a:r>
            <a:r>
              <a:rPr lang="ko-KR" altLang="en-US" dirty="0"/>
              <a:t>에서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사건과 관련 없는 사람들의 얼굴이 그대로</a:t>
            </a:r>
            <a:endParaRPr lang="en-US" altLang="ko-KR" dirty="0"/>
          </a:p>
          <a:p>
            <a:r>
              <a:rPr lang="ko-KR" altLang="en-US" dirty="0"/>
              <a:t>노출된 영상 때문에 불편했던 경험이 </a:t>
            </a:r>
            <a:r>
              <a:rPr lang="ko-KR" altLang="en-US" dirty="0" err="1"/>
              <a:t>있으신가요</a:t>
            </a:r>
            <a:r>
              <a:rPr lang="en-US" altLang="ko-KR" dirty="0"/>
              <a:t>? </a:t>
            </a:r>
            <a:r>
              <a:rPr lang="ko-KR" altLang="en-US" dirty="0"/>
              <a:t>개인정보 보호가 그 어느 때보다 중요해진 지금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저희는 </a:t>
            </a:r>
            <a:r>
              <a:rPr lang="en-US" altLang="ko-KR" dirty="0"/>
              <a:t>AI </a:t>
            </a:r>
            <a:r>
              <a:rPr lang="ko-KR" altLang="en-US" dirty="0"/>
              <a:t>기술을 이용해 이 문제를 해결하고자 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지금부터 저희가 개발한</a:t>
            </a:r>
            <a:endParaRPr lang="en-US" altLang="ko-KR" dirty="0"/>
          </a:p>
          <a:p>
            <a:r>
              <a:rPr lang="ko-KR" altLang="en-US" dirty="0"/>
              <a:t>**</a:t>
            </a:r>
            <a:r>
              <a:rPr lang="en-US" altLang="ko-KR" dirty="0"/>
              <a:t>'AI </a:t>
            </a:r>
            <a:r>
              <a:rPr lang="ko-KR" altLang="en-US" dirty="0"/>
              <a:t>활용 얼굴 인식 자동 </a:t>
            </a:r>
            <a:r>
              <a:rPr lang="ko-KR" altLang="en-US" dirty="0" err="1"/>
              <a:t>블러</a:t>
            </a:r>
            <a:r>
              <a:rPr lang="ko-KR" altLang="en-US" dirty="0"/>
              <a:t> 처리 웹서비스</a:t>
            </a:r>
            <a:r>
              <a:rPr lang="en-US" altLang="ko-KR" dirty="0"/>
              <a:t>’**</a:t>
            </a:r>
            <a:r>
              <a:rPr lang="ko-KR" altLang="en-US" dirty="0"/>
              <a:t>를</a:t>
            </a:r>
            <a:endParaRPr lang="en-US" altLang="ko-KR" dirty="0"/>
          </a:p>
          <a:p>
            <a:r>
              <a:rPr lang="ko-KR" altLang="en-US" dirty="0"/>
              <a:t>소개해 드리겠습니다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937C6-8F6E-4839-F1D6-54145B4F6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D9F33-7455-531A-17CD-C9C327D09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E7523-BA7F-9B35-3565-B2D579B9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사례를 들어 청중의 공감을 유도</a:t>
            </a:r>
            <a:r>
              <a:rPr lang="en-US" altLang="ko-KR" b="1" dirty="0"/>
              <a:t>)</a:t>
            </a:r>
          </a:p>
          <a:p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우리는 일상에서 수많은 </a:t>
            </a:r>
            <a:r>
              <a:rPr lang="en-US" altLang="ko-KR" dirty="0"/>
              <a:t>CCTV</a:t>
            </a:r>
            <a:r>
              <a:rPr lang="ko-KR" altLang="en-US" dirty="0"/>
              <a:t>와 스마트폰 카메라에 노출되어 살아갑니다</a:t>
            </a:r>
            <a:r>
              <a:rPr lang="en-US" altLang="ko-KR" dirty="0"/>
              <a:t>. </a:t>
            </a:r>
            <a:r>
              <a:rPr lang="ko-KR" altLang="en-US" dirty="0"/>
              <a:t>최근 </a:t>
            </a:r>
            <a:r>
              <a:rPr lang="en-US" altLang="ko-KR" dirty="0"/>
              <a:t>'</a:t>
            </a:r>
            <a:r>
              <a:rPr lang="ko-KR" altLang="en-US" dirty="0"/>
              <a:t>수술실 </a:t>
            </a:r>
            <a:r>
              <a:rPr lang="en-US" altLang="ko-KR" dirty="0"/>
              <a:t>CCTV </a:t>
            </a:r>
            <a:r>
              <a:rPr lang="ko-KR" altLang="en-US" dirty="0"/>
              <a:t>설치 의무화</a:t>
            </a:r>
            <a:r>
              <a:rPr lang="en-US" altLang="ko-KR" dirty="0"/>
              <a:t>'</a:t>
            </a:r>
            <a:r>
              <a:rPr lang="ko-KR" altLang="en-US" dirty="0"/>
              <a:t>처럼 개인정보 보호는 중요한 사회적 이슈가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병원 관계자가 환자의 얼굴을 가리기 위해 수작업으로 영상을 편집한다면 얼마나 많은 시간과 노력이 필요할까요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한번 인터넷에 올라간 영상은 완벽하게 삭제하기가 거의 불가능하고</a:t>
            </a:r>
            <a:r>
              <a:rPr lang="en-US" altLang="ko-KR" dirty="0"/>
              <a:t>, </a:t>
            </a:r>
            <a:r>
              <a:rPr lang="ko-KR" altLang="en-US" dirty="0"/>
              <a:t>혐오 영상이나 개인 사생활이 담긴 영상이 무분별하게 </a:t>
            </a:r>
            <a:r>
              <a:rPr lang="ko-KR" altLang="en-US" dirty="0" err="1"/>
              <a:t>퍼져나가기도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이처럼 영상 속 개인정보를 보호하는 것은 매우 중요하지만</a:t>
            </a:r>
            <a:r>
              <a:rPr lang="en-US" altLang="ko-KR" dirty="0"/>
              <a:t>, </a:t>
            </a:r>
            <a:r>
              <a:rPr lang="ko-KR" altLang="en-US" b="1" dirty="0"/>
              <a:t>수작업 편집은 너무나 번거롭고 시간이 오래 걸립니다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저희는 바로 이 지점에서 </a:t>
            </a:r>
            <a:r>
              <a:rPr lang="en-US" altLang="ko-KR" dirty="0"/>
              <a:t>'AI</a:t>
            </a:r>
            <a:r>
              <a:rPr lang="ko-KR" altLang="en-US" dirty="0"/>
              <a:t>를 통해 이 과정을 자동화할 수 없을까</a:t>
            </a:r>
            <a:r>
              <a:rPr lang="en-US" altLang="ko-KR" dirty="0"/>
              <a:t>?'</a:t>
            </a:r>
            <a:r>
              <a:rPr lang="ko-KR" altLang="en-US" dirty="0"/>
              <a:t>라는 아이디어를 떠올렸고</a:t>
            </a:r>
            <a:r>
              <a:rPr lang="en-US" altLang="ko-KR" dirty="0"/>
              <a:t>, </a:t>
            </a:r>
            <a:r>
              <a:rPr lang="ko-KR" altLang="en-US" dirty="0"/>
              <a:t>프로젝트를 시작하게 되었습니다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87EFB-8562-1EC7-E6C4-6D1812FBC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54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사례를 들어 청중의 공감을 유도</a:t>
            </a:r>
            <a:r>
              <a:rPr lang="en-US" altLang="ko-KR" b="1" dirty="0"/>
              <a:t>)</a:t>
            </a:r>
          </a:p>
          <a:p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우리는 일상에서 수많은 </a:t>
            </a:r>
            <a:r>
              <a:rPr lang="en-US" altLang="ko-KR" dirty="0"/>
              <a:t>CCTV</a:t>
            </a:r>
            <a:r>
              <a:rPr lang="ko-KR" altLang="en-US" dirty="0"/>
              <a:t>와 스마트폰 카메라에 노출되어 살아갑니다</a:t>
            </a:r>
            <a:r>
              <a:rPr lang="en-US" altLang="ko-KR" dirty="0"/>
              <a:t>. </a:t>
            </a:r>
            <a:r>
              <a:rPr lang="ko-KR" altLang="en-US" dirty="0"/>
              <a:t>최근 </a:t>
            </a:r>
            <a:r>
              <a:rPr lang="en-US" altLang="ko-KR" dirty="0"/>
              <a:t>'</a:t>
            </a:r>
            <a:r>
              <a:rPr lang="ko-KR" altLang="en-US" dirty="0"/>
              <a:t>수술실 </a:t>
            </a:r>
            <a:r>
              <a:rPr lang="en-US" altLang="ko-KR" dirty="0"/>
              <a:t>CCTV </a:t>
            </a:r>
            <a:r>
              <a:rPr lang="ko-KR" altLang="en-US" dirty="0"/>
              <a:t>설치 의무화</a:t>
            </a:r>
            <a:r>
              <a:rPr lang="en-US" altLang="ko-KR" dirty="0"/>
              <a:t>'</a:t>
            </a:r>
            <a:r>
              <a:rPr lang="ko-KR" altLang="en-US" dirty="0"/>
              <a:t>처럼 개인정보 보호는 중요한 사회적 이슈가 되었습니다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병원 관계자가 환자의 얼굴을 가리기 위해 수작업으로 영상을 편집한다면 얼마나 많은 시간과 노력이 필요할까요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한번 인터넷에 올라간 영상은 완벽하게 삭제하기가 거의 불가능하고</a:t>
            </a:r>
            <a:r>
              <a:rPr lang="en-US" altLang="ko-KR" dirty="0"/>
              <a:t>, </a:t>
            </a:r>
            <a:r>
              <a:rPr lang="ko-KR" altLang="en-US" dirty="0"/>
              <a:t>혐오 영상이나 개인 사생활이 담긴 영상이 무분별하게 </a:t>
            </a:r>
            <a:r>
              <a:rPr lang="ko-KR" altLang="en-US" dirty="0" err="1"/>
              <a:t>퍼져나가기도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이처럼 영상 속 개인정보를 보호하는 것은 매우 중요하지만</a:t>
            </a:r>
            <a:r>
              <a:rPr lang="en-US" altLang="ko-KR" dirty="0"/>
              <a:t>, </a:t>
            </a:r>
            <a:r>
              <a:rPr lang="ko-KR" altLang="en-US" b="1" dirty="0"/>
              <a:t>수작업 편집은 너무나 번거롭고 시간이 오래 걸립니다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저희는 바로 이 지점에서 </a:t>
            </a:r>
            <a:r>
              <a:rPr lang="en-US" altLang="ko-KR" dirty="0"/>
              <a:t>'AI</a:t>
            </a:r>
            <a:r>
              <a:rPr lang="ko-KR" altLang="en-US" dirty="0"/>
              <a:t>를 통해 이 과정을 자동화할 수 없을까</a:t>
            </a:r>
            <a:r>
              <a:rPr lang="en-US" altLang="ko-KR" dirty="0"/>
              <a:t>?'</a:t>
            </a:r>
            <a:r>
              <a:rPr lang="ko-KR" altLang="en-US" dirty="0"/>
              <a:t>라는 아이디어를 떠올렸고</a:t>
            </a:r>
            <a:r>
              <a:rPr lang="en-US" altLang="ko-KR" dirty="0"/>
              <a:t>, </a:t>
            </a:r>
            <a:r>
              <a:rPr lang="ko-KR" altLang="en-US" dirty="0"/>
              <a:t>프로젝트를 시작하게 되었습니다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서비스의 핵심 가치를 명확하고 간결하게 전달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그래서 저희 프로젝트의 목표는 명확합니다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바로 </a:t>
            </a:r>
            <a:r>
              <a:rPr lang="en-US" altLang="ko-KR" b="1" dirty="0"/>
              <a:t>'</a:t>
            </a:r>
            <a:r>
              <a:rPr lang="ko-KR" altLang="en-US" b="1" dirty="0"/>
              <a:t>사용자가 영상을 올리기만 하면</a:t>
            </a:r>
            <a:r>
              <a:rPr lang="en-US" altLang="ko-KR" b="1" dirty="0"/>
              <a:t>, AI</a:t>
            </a:r>
            <a:r>
              <a:rPr lang="ko-KR" altLang="en-US" b="1" dirty="0"/>
              <a:t>가 알아서 얼굴을 찾아 </a:t>
            </a:r>
            <a:r>
              <a:rPr lang="ko-KR" altLang="en-US" b="1" dirty="0" err="1"/>
              <a:t>블러</a:t>
            </a:r>
            <a:r>
              <a:rPr lang="ko-KR" altLang="en-US" b="1" dirty="0"/>
              <a:t> 처리해주는 쉽고 빠른 웹 서비스를 만드는 것</a:t>
            </a:r>
            <a:r>
              <a:rPr lang="en-US" altLang="ko-KR" b="1" dirty="0"/>
              <a:t>'</a:t>
            </a:r>
            <a:r>
              <a:rPr lang="ko-KR" altLang="en-US" dirty="0"/>
              <a:t>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사용자는 복잡한 프로그램을 설치할 필요 없이</a:t>
            </a:r>
            <a:r>
              <a:rPr lang="en-US" altLang="ko-KR" dirty="0"/>
              <a:t>, </a:t>
            </a:r>
            <a:r>
              <a:rPr lang="ko-KR" altLang="en-US" dirty="0"/>
              <a:t>웹사이트에서 클릭 몇 번만으로 이 모든 과정을 끝낼 수 있습니다</a:t>
            </a:r>
            <a:r>
              <a:rPr lang="en-US" altLang="ko-KR" dirty="0"/>
              <a:t>. </a:t>
            </a:r>
            <a:r>
              <a:rPr lang="ko-KR" altLang="en-US" dirty="0"/>
              <a:t>자동으로 처리된 결과에서 필요한 부분만 간단히 수정하고</a:t>
            </a:r>
            <a:r>
              <a:rPr lang="en-US" altLang="ko-KR" dirty="0"/>
              <a:t>, </a:t>
            </a:r>
            <a:r>
              <a:rPr lang="ko-KR" altLang="en-US" dirty="0"/>
              <a:t>마지막에 </a:t>
            </a:r>
            <a:r>
              <a:rPr lang="ko-KR" altLang="en-US" b="1" dirty="0"/>
              <a:t>원클릭으로 결과 영상을 다운로드</a:t>
            </a:r>
            <a:r>
              <a:rPr lang="ko-KR" altLang="en-US" dirty="0"/>
              <a:t>하는 편리한 경험을 제공하는 것이 저희의 핵심 목표입니다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비전공자를 위해 기술 용어 대신 과정에 집중하여 설명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서비스가 동작하는 전체적인 흐름은 매우 간단합니다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</a:t>
            </a:r>
            <a:r>
              <a:rPr lang="en-US" altLang="ko-KR" dirty="0"/>
              <a:t>, </a:t>
            </a:r>
            <a:r>
              <a:rPr lang="ko-KR" altLang="en-US" dirty="0"/>
              <a:t>사용자가 저희 웹사이트에 영상을 </a:t>
            </a:r>
            <a:r>
              <a:rPr lang="ko-KR" altLang="en-US" b="1" dirty="0"/>
              <a:t>업로드</a:t>
            </a:r>
            <a:r>
              <a:rPr lang="ko-KR" altLang="en-US" dirty="0"/>
              <a:t>합니다</a:t>
            </a:r>
            <a:r>
              <a:rPr lang="en-US" altLang="ko-KR" dirty="0"/>
              <a:t>. </a:t>
            </a:r>
            <a:r>
              <a:rPr lang="ko-KR" altLang="en-US" dirty="0"/>
              <a:t>그럼 저희 서버가 영상을 잘게 쪼개어 각 장면마다 얼굴이 어디 있는지 찾아냅니다</a:t>
            </a:r>
            <a:r>
              <a:rPr lang="en-US" altLang="ko-KR" dirty="0"/>
              <a:t>. </a:t>
            </a:r>
            <a:r>
              <a:rPr lang="ko-KR" altLang="en-US" dirty="0"/>
              <a:t>그 후</a:t>
            </a:r>
            <a:r>
              <a:rPr lang="en-US" altLang="ko-KR" dirty="0"/>
              <a:t>, </a:t>
            </a:r>
            <a:r>
              <a:rPr lang="ko-KR" altLang="en-US" dirty="0"/>
              <a:t>사용자에게 탐지된 얼굴 목록과 영상의 타임라인을 보여주며 </a:t>
            </a:r>
            <a:r>
              <a:rPr lang="ko-KR" altLang="en-US" b="1" dirty="0"/>
              <a:t>편집</a:t>
            </a:r>
            <a:r>
              <a:rPr lang="ko-KR" altLang="en-US" dirty="0"/>
              <a:t>할 수 있는 화면을 제공합니다</a:t>
            </a:r>
            <a:r>
              <a:rPr lang="en-US" altLang="ko-KR" dirty="0"/>
              <a:t>. </a:t>
            </a:r>
            <a:r>
              <a:rPr lang="ko-KR" altLang="en-US" dirty="0"/>
              <a:t>사용자가 </a:t>
            </a:r>
            <a:r>
              <a:rPr lang="ko-KR" altLang="en-US" dirty="0" err="1"/>
              <a:t>블러</a:t>
            </a:r>
            <a:r>
              <a:rPr lang="ko-KR" altLang="en-US" dirty="0"/>
              <a:t> 처리할 대상을 최종 결정하면</a:t>
            </a:r>
            <a:r>
              <a:rPr lang="en-US" altLang="ko-KR" dirty="0"/>
              <a:t>, </a:t>
            </a:r>
            <a:r>
              <a:rPr lang="ko-KR" altLang="en-US" dirty="0"/>
              <a:t>서버가 영상에 </a:t>
            </a:r>
            <a:r>
              <a:rPr lang="ko-KR" altLang="en-US" dirty="0" err="1"/>
              <a:t>블러</a:t>
            </a:r>
            <a:r>
              <a:rPr lang="ko-KR" altLang="en-US" dirty="0"/>
              <a:t> 효과를 입혀 </a:t>
            </a:r>
            <a:r>
              <a:rPr lang="ko-KR" altLang="en-US" b="1" dirty="0"/>
              <a:t>최종 영상을 생성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사용자는 이 영상을 </a:t>
            </a:r>
            <a:r>
              <a:rPr lang="ko-KR" altLang="en-US" b="1" dirty="0"/>
              <a:t>다운로드</a:t>
            </a:r>
            <a:r>
              <a:rPr lang="ko-KR" altLang="en-US" dirty="0"/>
              <a:t>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과정을 구현하기 위해</a:t>
            </a:r>
            <a:r>
              <a:rPr lang="en-US" altLang="ko-KR" dirty="0"/>
              <a:t>, </a:t>
            </a:r>
            <a:r>
              <a:rPr lang="ko-KR" altLang="en-US" dirty="0"/>
              <a:t>화면을 구성하는 </a:t>
            </a:r>
            <a:r>
              <a:rPr lang="ko-KR" altLang="en-US" dirty="0" err="1"/>
              <a:t>프론트엔드에는</a:t>
            </a:r>
            <a:r>
              <a:rPr lang="ko-KR" altLang="en-US" dirty="0"/>
              <a:t> **</a:t>
            </a:r>
            <a:r>
              <a:rPr lang="ko-KR" altLang="en-US" dirty="0" err="1"/>
              <a:t>리액트</a:t>
            </a:r>
            <a:r>
              <a:rPr lang="en-US" altLang="ko-KR" dirty="0"/>
              <a:t>(React)**</a:t>
            </a:r>
            <a:r>
              <a:rPr lang="ko-KR" altLang="en-US" dirty="0"/>
              <a:t>를 사용했고</a:t>
            </a:r>
            <a:r>
              <a:rPr lang="en-US" altLang="ko-KR" dirty="0"/>
              <a:t>, AI </a:t>
            </a:r>
            <a:r>
              <a:rPr lang="ko-KR" altLang="en-US" dirty="0"/>
              <a:t>분석과 영상 처리를 담당하는 </a:t>
            </a:r>
            <a:r>
              <a:rPr lang="ko-KR" altLang="en-US" dirty="0" err="1"/>
              <a:t>백엔드</a:t>
            </a:r>
            <a:r>
              <a:rPr lang="ko-KR" altLang="en-US" dirty="0"/>
              <a:t> 서버는 **파이썬</a:t>
            </a:r>
            <a:r>
              <a:rPr lang="en-US" altLang="ko-KR" dirty="0"/>
              <a:t>(Python)</a:t>
            </a:r>
            <a:r>
              <a:rPr lang="ko-KR" altLang="en-US" dirty="0"/>
              <a:t>과 플라스크</a:t>
            </a:r>
            <a:r>
              <a:rPr lang="en-US" altLang="ko-KR" dirty="0"/>
              <a:t>(Flask)**</a:t>
            </a:r>
            <a:r>
              <a:rPr lang="ko-KR" altLang="en-US" dirty="0"/>
              <a:t>를 기반으로 구축했습니다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서비스의 특장점을 사용자 입장에서 설명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저희 서비스의 네 가지 핵심 기능입니다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1. </a:t>
            </a:r>
            <a:r>
              <a:rPr lang="ko-KR" altLang="en-US" b="1" dirty="0"/>
              <a:t>자동 얼굴 탐지</a:t>
            </a:r>
            <a:r>
              <a:rPr lang="en-US" altLang="ko-KR" dirty="0"/>
              <a:t>: </a:t>
            </a:r>
            <a:r>
              <a:rPr lang="ko-KR" altLang="en-US" dirty="0"/>
              <a:t>영상이 </a:t>
            </a:r>
            <a:r>
              <a:rPr lang="ko-KR" altLang="en-US" dirty="0" err="1"/>
              <a:t>업로드되면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가 자동으로 모든 얼굴을 찾아 초록색 네모 박스로 표시해 줍니다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간편한 편집 기능</a:t>
            </a:r>
            <a:r>
              <a:rPr lang="en-US" altLang="ko-KR" dirty="0"/>
              <a:t>: </a:t>
            </a:r>
            <a:r>
              <a:rPr lang="ko-KR" altLang="en-US" dirty="0"/>
              <a:t>탐지된 얼굴 목록을 체크박스 형태로 보여주고</a:t>
            </a:r>
            <a:r>
              <a:rPr lang="en-US" altLang="ko-KR" dirty="0"/>
              <a:t>, </a:t>
            </a:r>
            <a:r>
              <a:rPr lang="ko-KR" altLang="en-US" dirty="0"/>
              <a:t>영상 아래 타임라인을 통해 누가 언제 등장하는지 한눈에 볼 수 있어</a:t>
            </a:r>
            <a:r>
              <a:rPr lang="en-US" altLang="ko-KR" dirty="0"/>
              <a:t>, </a:t>
            </a:r>
            <a:r>
              <a:rPr lang="ko-KR" altLang="en-US" dirty="0" err="1"/>
              <a:t>블러</a:t>
            </a:r>
            <a:r>
              <a:rPr lang="ko-KR" altLang="en-US" dirty="0"/>
              <a:t> 처리 대상을 쉽게 추가하거나 뺄 수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3. </a:t>
            </a:r>
            <a:r>
              <a:rPr lang="ko-KR" altLang="en-US" b="1" dirty="0"/>
              <a:t>진행률 표시</a:t>
            </a:r>
            <a:r>
              <a:rPr lang="en-US" altLang="ko-KR" dirty="0"/>
              <a:t>: </a:t>
            </a:r>
            <a:r>
              <a:rPr lang="ko-KR" altLang="en-US" dirty="0"/>
              <a:t>영상 처리에는 시간이 걸릴 수 있기 때문에</a:t>
            </a:r>
            <a:r>
              <a:rPr lang="en-US" altLang="ko-KR" dirty="0"/>
              <a:t>, </a:t>
            </a:r>
            <a:r>
              <a:rPr lang="ko-KR" altLang="en-US" dirty="0"/>
              <a:t>사용자가 답답하지 않도록 현재 진행 상황을 퍼센트</a:t>
            </a:r>
            <a:r>
              <a:rPr lang="en-US" altLang="ko-KR" dirty="0"/>
              <a:t>(%)</a:t>
            </a:r>
            <a:r>
              <a:rPr lang="ko-KR" altLang="en-US" dirty="0"/>
              <a:t>로 실시간 표시해 줍니다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4. </a:t>
            </a:r>
            <a:r>
              <a:rPr lang="ko-KR" altLang="en-US" b="1" dirty="0"/>
              <a:t>최종 영상 다운로드</a:t>
            </a:r>
            <a:r>
              <a:rPr lang="en-US" altLang="ko-KR" dirty="0"/>
              <a:t>: </a:t>
            </a:r>
            <a:r>
              <a:rPr lang="ko-KR" altLang="en-US" dirty="0"/>
              <a:t>모든 작업이 끝나면</a:t>
            </a:r>
            <a:r>
              <a:rPr lang="en-US" altLang="ko-KR" dirty="0"/>
              <a:t>, </a:t>
            </a:r>
            <a:r>
              <a:rPr lang="ko-KR" altLang="en-US" dirty="0"/>
              <a:t>버튼 하나만 눌러서 완성된 영상을 바로 다운로드할 수 있습니다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자신감 있는 태도로 기술적 역량을 어필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프로젝트를 구현하기 위해 사용한 기술들입니다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사용자가 보는 화면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b="1" dirty="0" err="1"/>
              <a:t>프론트엔드</a:t>
            </a:r>
            <a:r>
              <a:rPr lang="ko-KR" altLang="en-US" dirty="0" err="1"/>
              <a:t>는</a:t>
            </a:r>
            <a:r>
              <a:rPr lang="ko-KR" altLang="en-US" dirty="0"/>
              <a:t> 웹 표준 기술과 **</a:t>
            </a:r>
            <a:r>
              <a:rPr lang="ko-KR" altLang="en-US" dirty="0" err="1"/>
              <a:t>리액트</a:t>
            </a:r>
            <a:r>
              <a:rPr lang="en-US" altLang="ko-KR" dirty="0"/>
              <a:t>(React)**</a:t>
            </a:r>
            <a:r>
              <a:rPr lang="ko-KR" altLang="en-US" dirty="0"/>
              <a:t>를 활용해 역동적인 </a:t>
            </a:r>
            <a:r>
              <a:rPr lang="en-US" altLang="ko-KR" dirty="0"/>
              <a:t>UI</a:t>
            </a:r>
            <a:r>
              <a:rPr lang="ko-KR" altLang="en-US" dirty="0"/>
              <a:t>를 구현했습니다</a:t>
            </a:r>
            <a:r>
              <a:rPr lang="en-US" altLang="ko-KR" dirty="0"/>
              <a:t>.</a:t>
            </a:r>
          </a:p>
          <a:p>
            <a:r>
              <a:rPr lang="ko-KR" altLang="en-US" b="1" dirty="0" err="1"/>
              <a:t>백엔드</a:t>
            </a:r>
            <a:r>
              <a:rPr lang="ko-KR" altLang="en-US" dirty="0" err="1"/>
              <a:t>에서는</a:t>
            </a:r>
            <a:r>
              <a:rPr lang="ko-KR" altLang="en-US" dirty="0"/>
              <a:t> </a:t>
            </a:r>
            <a:r>
              <a:rPr lang="ko-KR" altLang="en-US" b="1" dirty="0"/>
              <a:t>파이썬</a:t>
            </a:r>
            <a:r>
              <a:rPr lang="en-US" altLang="ko-KR" b="1" dirty="0"/>
              <a:t>(Python)</a:t>
            </a:r>
            <a:r>
              <a:rPr lang="ko-KR" altLang="en-US" dirty="0"/>
              <a:t> 기반의 </a:t>
            </a:r>
            <a:r>
              <a:rPr lang="ko-KR" altLang="en-US" b="1" dirty="0"/>
              <a:t>플라스크</a:t>
            </a:r>
            <a:r>
              <a:rPr lang="en-US" altLang="ko-KR" b="1" dirty="0"/>
              <a:t>(Flask)</a:t>
            </a:r>
            <a:r>
              <a:rPr lang="ko-KR" altLang="en-US" dirty="0"/>
              <a:t> 프레임워크로 서버를 구축하여 빠르고 안정적인 처리가 가능하도록 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가장 중요한 </a:t>
            </a:r>
            <a:r>
              <a:rPr lang="ko-KR" altLang="en-US" b="1" dirty="0"/>
              <a:t>영상 처리</a:t>
            </a:r>
            <a:r>
              <a:rPr lang="ko-KR" altLang="en-US" dirty="0"/>
              <a:t> 부분에서는</a:t>
            </a:r>
            <a:r>
              <a:rPr lang="en-US" altLang="ko-KR" dirty="0"/>
              <a:t>, AI </a:t>
            </a:r>
            <a:r>
              <a:rPr lang="ko-KR" altLang="en-US" dirty="0"/>
              <a:t>모델인 **</a:t>
            </a:r>
            <a:r>
              <a:rPr lang="ko-KR" altLang="en-US" dirty="0" err="1"/>
              <a:t>욜로</a:t>
            </a:r>
            <a:r>
              <a:rPr lang="en-US" altLang="ko-KR" dirty="0"/>
              <a:t>(YOLO)**</a:t>
            </a:r>
            <a:r>
              <a:rPr lang="ko-KR" altLang="en-US" dirty="0"/>
              <a:t>를 이용해 얼굴을 탐지하고</a:t>
            </a:r>
            <a:r>
              <a:rPr lang="en-US" altLang="ko-KR" dirty="0"/>
              <a:t>, **</a:t>
            </a:r>
            <a:r>
              <a:rPr lang="ko-KR" altLang="en-US" dirty="0" err="1"/>
              <a:t>오픈씨브이</a:t>
            </a:r>
            <a:r>
              <a:rPr lang="en-US" altLang="ko-KR" dirty="0"/>
              <a:t>(OpenCV)**</a:t>
            </a:r>
            <a:r>
              <a:rPr lang="ko-KR" altLang="en-US" dirty="0"/>
              <a:t>와 **</a:t>
            </a:r>
            <a:r>
              <a:rPr lang="ko-KR" altLang="en-US" dirty="0" err="1"/>
              <a:t>에프에프엠펙</a:t>
            </a:r>
            <a:r>
              <a:rPr lang="en-US" altLang="ko-KR" dirty="0"/>
              <a:t>(</a:t>
            </a:r>
            <a:r>
              <a:rPr lang="en-US" altLang="ko-KR" dirty="0" err="1"/>
              <a:t>FFmpeg</a:t>
            </a:r>
            <a:r>
              <a:rPr lang="en-US" altLang="ko-KR" dirty="0"/>
              <a:t>)**</a:t>
            </a:r>
            <a:r>
              <a:rPr lang="ko-KR" altLang="en-US" dirty="0"/>
              <a:t>이라는 전문 라이브러리를 활용하여 </a:t>
            </a:r>
            <a:r>
              <a:rPr lang="ko-KR" altLang="en-US" dirty="0" err="1"/>
              <a:t>블러</a:t>
            </a:r>
            <a:r>
              <a:rPr lang="ko-KR" altLang="en-US" dirty="0"/>
              <a:t> 처리와 영상 합성을 수행했습니다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모든 작업 기록은 </a:t>
            </a:r>
            <a:r>
              <a:rPr lang="ko-KR" altLang="en-US" b="1" dirty="0" err="1"/>
              <a:t>에스큐엘라이트</a:t>
            </a:r>
            <a:r>
              <a:rPr lang="en-US" altLang="ko-KR" b="1" dirty="0"/>
              <a:t>(SQLite)</a:t>
            </a:r>
            <a:r>
              <a:rPr lang="ko-KR" altLang="en-US" dirty="0"/>
              <a:t> 데이터베이스에 저장하여 관리합니다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잠시 후 시연할 화면을 미리 보여주며 기대감 조성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이 화면들은 저희 서비스의 실제 모습입니다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보시는 것처럼 첫 화면에서 간단하게 </a:t>
            </a:r>
            <a:r>
              <a:rPr lang="ko-KR" altLang="en-US" b="1" dirty="0"/>
              <a:t>영상을 업로드</a:t>
            </a:r>
            <a:r>
              <a:rPr lang="ko-KR" altLang="en-US" dirty="0"/>
              <a:t>할 수 있습니다</a:t>
            </a:r>
            <a:r>
              <a:rPr lang="en-US" altLang="ko-KR" dirty="0"/>
              <a:t>. </a:t>
            </a:r>
            <a:r>
              <a:rPr lang="ko-KR" altLang="en-US" dirty="0"/>
              <a:t>업로드가 완료되면 오른쪽에 탐지된 얼굴 목록이 나타나고</a:t>
            </a:r>
            <a:r>
              <a:rPr lang="en-US" altLang="ko-KR" dirty="0"/>
              <a:t>, </a:t>
            </a:r>
            <a:r>
              <a:rPr lang="ko-KR" altLang="en-US" dirty="0"/>
              <a:t>아래 타임라인을 통해 편집할 수 있습니다</a:t>
            </a:r>
            <a:r>
              <a:rPr lang="en-US" altLang="ko-KR" dirty="0"/>
              <a:t>. </a:t>
            </a:r>
            <a:r>
              <a:rPr lang="ko-KR" altLang="en-US" dirty="0"/>
              <a:t>편집 후 저장을 누르면 영상 처리가 시작되고</a:t>
            </a:r>
            <a:r>
              <a:rPr lang="en-US" altLang="ko-KR" dirty="0"/>
              <a:t>, </a:t>
            </a:r>
            <a:r>
              <a:rPr lang="ko-KR" altLang="en-US" dirty="0"/>
              <a:t>모든 과정이 끝나면 </a:t>
            </a:r>
            <a:r>
              <a:rPr lang="ko-KR" altLang="en-US" b="1" dirty="0"/>
              <a:t>다운로드 버튼</a:t>
            </a:r>
            <a:r>
              <a:rPr lang="ko-KR" altLang="en-US" dirty="0"/>
              <a:t>이 활성화되어 결과물을 받을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단순하고 직관적인 구성으로 누구나 쉽게 사용할 수 있도록 디자인했습니다</a:t>
            </a:r>
            <a:r>
              <a:rPr lang="en-US" altLang="ko-KR" dirty="0"/>
              <a:t>. </a:t>
            </a:r>
            <a:r>
              <a:rPr lang="ko-KR" altLang="en-US" dirty="0"/>
              <a:t>이 부분은 잠시 후 시연을 통해 더 자세히 보여드리겠습니다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서비스가 사회에 기여할 수 있는 긍정적인 측면을 강조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저희 서비스를 통해 기대할 수 있는 효과는 크게 두 가지입니다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</a:t>
            </a:r>
            <a:r>
              <a:rPr lang="en-US" altLang="ko-KR" dirty="0"/>
              <a:t>, </a:t>
            </a:r>
            <a:r>
              <a:rPr lang="ko-KR" altLang="en-US" b="1" dirty="0"/>
              <a:t>압도적인 시간 절약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저희가 자체적으로 테스트해 본 결과</a:t>
            </a:r>
            <a:r>
              <a:rPr lang="en-US" altLang="ko-KR" dirty="0"/>
              <a:t>, </a:t>
            </a:r>
            <a:r>
              <a:rPr lang="ko-KR" altLang="en-US" dirty="0"/>
              <a:t>수작업 대비 </a:t>
            </a:r>
            <a:r>
              <a:rPr lang="en-US" altLang="ko-KR" b="1" dirty="0"/>
              <a:t>90% </a:t>
            </a:r>
            <a:r>
              <a:rPr lang="ko-KR" altLang="en-US" b="1" dirty="0"/>
              <a:t>이상의 작업 시간을 단축</a:t>
            </a:r>
            <a:r>
              <a:rPr lang="ko-KR" altLang="en-US" dirty="0"/>
              <a:t>할 수 있었습니다</a:t>
            </a:r>
            <a:r>
              <a:rPr lang="en-US" altLang="ko-KR" dirty="0"/>
              <a:t>. </a:t>
            </a:r>
            <a:r>
              <a:rPr lang="ko-KR" altLang="en-US" dirty="0"/>
              <a:t>이는 공공기관이나 의료기관의 업무 효율을 크게 향상시킬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b="1" dirty="0"/>
              <a:t>개인정보 보호 강화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 err="1"/>
              <a:t>유튜버나</a:t>
            </a:r>
            <a:r>
              <a:rPr lang="ko-KR" altLang="en-US" dirty="0"/>
              <a:t> 일반 사용자들이 </a:t>
            </a:r>
            <a:r>
              <a:rPr lang="en-US" altLang="ko-KR" dirty="0"/>
              <a:t>SNS</a:t>
            </a:r>
            <a:r>
              <a:rPr lang="ko-KR" altLang="en-US" dirty="0"/>
              <a:t>에 영상을 올리기 전</a:t>
            </a:r>
            <a:r>
              <a:rPr lang="en-US" altLang="ko-KR" dirty="0"/>
              <a:t>, </a:t>
            </a:r>
            <a:r>
              <a:rPr lang="ko-KR" altLang="en-US" dirty="0"/>
              <a:t>쉽고 빠르게 사생활을 보호할 수 있어 개인정보 노출 위험을 크게 줄일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이러한 장점을 바탕으로</a:t>
            </a:r>
            <a:r>
              <a:rPr lang="en-US" altLang="ko-KR" dirty="0"/>
              <a:t>, CCTV </a:t>
            </a:r>
            <a:r>
              <a:rPr lang="ko-KR" altLang="en-US" dirty="0"/>
              <a:t>영상을 다루는 </a:t>
            </a:r>
            <a:r>
              <a:rPr lang="ko-KR" altLang="en-US" b="1" dirty="0"/>
              <a:t>공공기관</a:t>
            </a:r>
            <a:r>
              <a:rPr lang="en-US" altLang="ko-KR" dirty="0"/>
              <a:t>, </a:t>
            </a:r>
            <a:r>
              <a:rPr lang="ko-KR" altLang="en-US" dirty="0"/>
              <a:t>환자 정보를 보호해야 하는 </a:t>
            </a:r>
            <a:r>
              <a:rPr lang="ko-KR" altLang="en-US" b="1" dirty="0"/>
              <a:t>의료기관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ko-KR" altLang="en-US" dirty="0" err="1"/>
              <a:t>브이로그나</a:t>
            </a:r>
            <a:r>
              <a:rPr lang="ko-KR" altLang="en-US" dirty="0"/>
              <a:t> 일상 영상을 공유하는 </a:t>
            </a:r>
            <a:r>
              <a:rPr lang="ko-KR" altLang="en-US" b="1" dirty="0"/>
              <a:t>모든 일반 사용자</a:t>
            </a:r>
            <a:r>
              <a:rPr lang="ko-KR" altLang="en-US" dirty="0"/>
              <a:t>에게 유용하게 활용될 수 있을 것입니다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프로젝트의 완성도를 강조하고</a:t>
            </a:r>
            <a:r>
              <a:rPr lang="en-US" altLang="ko-KR" b="1" dirty="0"/>
              <a:t>, </a:t>
            </a:r>
            <a:r>
              <a:rPr lang="ko-KR" altLang="en-US" b="1" dirty="0"/>
              <a:t>미래 발전 가능성을 제시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결론적으로</a:t>
            </a:r>
            <a:r>
              <a:rPr lang="en-US" altLang="ko-KR" dirty="0"/>
              <a:t>, </a:t>
            </a:r>
            <a:r>
              <a:rPr lang="ko-KR" altLang="en-US" dirty="0"/>
              <a:t>저희는 이번 졸업 프로젝트를 통해 </a:t>
            </a:r>
            <a:r>
              <a:rPr lang="en-US" altLang="ko-KR" b="1" dirty="0"/>
              <a:t>'AI </a:t>
            </a:r>
            <a:r>
              <a:rPr lang="ko-KR" altLang="en-US" b="1" dirty="0"/>
              <a:t>기반의 자동화된 영상 개인정보 보호 시스템</a:t>
            </a:r>
            <a:r>
              <a:rPr lang="en-US" altLang="ko-KR" b="1" dirty="0"/>
              <a:t>'</a:t>
            </a:r>
            <a:r>
              <a:rPr lang="ko-KR" altLang="en-US" b="1" dirty="0"/>
              <a:t>을 성공적으로 구현</a:t>
            </a:r>
            <a:r>
              <a:rPr lang="ko-KR" altLang="en-US" dirty="0"/>
              <a:t>했습니다</a:t>
            </a:r>
            <a:r>
              <a:rPr lang="en-US" altLang="ko-KR" dirty="0"/>
              <a:t>. </a:t>
            </a:r>
            <a:r>
              <a:rPr lang="ko-KR" altLang="en-US" dirty="0"/>
              <a:t>누구나 쉽게 사용할 수 있는 웹 기반 편집 기능을 제공하여</a:t>
            </a:r>
            <a:r>
              <a:rPr lang="en-US" altLang="ko-KR" dirty="0"/>
              <a:t>, </a:t>
            </a:r>
            <a:r>
              <a:rPr lang="ko-KR" altLang="en-US" dirty="0"/>
              <a:t>기술적인 지식이 없는 사람도 개인정보를 효과적으로 보호할 수 있는 발판을 마련했다는 점에서 큰 성과를 거두었다고 생각합니다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멈추지 않고</a:t>
            </a:r>
            <a:r>
              <a:rPr lang="en-US" altLang="ko-KR" dirty="0"/>
              <a:t>, </a:t>
            </a:r>
            <a:r>
              <a:rPr lang="ko-KR" altLang="en-US" dirty="0"/>
              <a:t>앞으로는 </a:t>
            </a:r>
            <a:r>
              <a:rPr lang="ko-KR" altLang="en-US" dirty="0" err="1"/>
              <a:t>얼굴뿐만</a:t>
            </a:r>
            <a:r>
              <a:rPr lang="ko-KR" altLang="en-US" dirty="0"/>
              <a:t> 아니라 </a:t>
            </a:r>
            <a:r>
              <a:rPr lang="ko-KR" altLang="en-US" b="1" dirty="0"/>
              <a:t>자동차 번호판</a:t>
            </a:r>
            <a:r>
              <a:rPr lang="en-US" altLang="ko-KR" b="1" dirty="0"/>
              <a:t>, </a:t>
            </a:r>
            <a:r>
              <a:rPr lang="ko-KR" altLang="en-US" b="1" dirty="0"/>
              <a:t>서류의 글자</a:t>
            </a:r>
            <a:r>
              <a:rPr lang="ko-KR" altLang="en-US" dirty="0"/>
              <a:t> 등 사용자가 원하는 모든 객체를 </a:t>
            </a:r>
            <a:r>
              <a:rPr lang="ko-KR" altLang="en-US" dirty="0" err="1"/>
              <a:t>블러</a:t>
            </a:r>
            <a:r>
              <a:rPr lang="ko-KR" altLang="en-US" dirty="0"/>
              <a:t> 처리할 수 있는 기능을 추가하고 싶습니다</a:t>
            </a:r>
            <a:r>
              <a:rPr lang="en-US" altLang="ko-KR" dirty="0"/>
              <a:t>. </a:t>
            </a:r>
            <a:r>
              <a:rPr lang="ko-KR" altLang="en-US" dirty="0"/>
              <a:t>더 나아가</a:t>
            </a:r>
            <a:r>
              <a:rPr lang="en-US" altLang="ko-KR" dirty="0"/>
              <a:t>, </a:t>
            </a:r>
            <a:r>
              <a:rPr lang="ko-KR" altLang="en-US" dirty="0"/>
              <a:t>영상 속에 어떤 개인정보가 있는지 </a:t>
            </a:r>
            <a:r>
              <a:rPr lang="en-US" altLang="ko-KR" dirty="0"/>
              <a:t>AI</a:t>
            </a:r>
            <a:r>
              <a:rPr lang="ko-KR" altLang="en-US" dirty="0"/>
              <a:t>가 먼저 사용자에게 알려주는 </a:t>
            </a:r>
            <a:r>
              <a:rPr lang="en-US" altLang="ko-KR" b="1" dirty="0"/>
              <a:t>'</a:t>
            </a:r>
            <a:r>
              <a:rPr lang="ko-KR" altLang="en-US" b="1" dirty="0"/>
              <a:t>자동 개인정보 요소 안내</a:t>
            </a:r>
            <a:r>
              <a:rPr lang="en-US" altLang="ko-KR" b="1" dirty="0"/>
              <a:t>'</a:t>
            </a:r>
            <a:r>
              <a:rPr lang="ko-KR" altLang="en-US" dirty="0"/>
              <a:t> 기능까지 구현하여 더욱 완성도 높은 서비스로 발전시켜 나갈 계획입니다</a:t>
            </a:r>
            <a:r>
              <a:rPr lang="en-US" altLang="ko-KR" dirty="0"/>
              <a:t>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/>
              <a:t>자연스럽게 시연으로 전환하며 발표 마무리</a:t>
            </a:r>
            <a:r>
              <a:rPr lang="en-US" altLang="ko-KR" b="1" dirty="0"/>
              <a:t>)</a:t>
            </a:r>
            <a:endParaRPr lang="ko-KR" altLang="en-US" dirty="0"/>
          </a:p>
          <a:p>
            <a:r>
              <a:rPr lang="en-US" altLang="ko-KR" dirty="0"/>
              <a:t>"</a:t>
            </a:r>
            <a:r>
              <a:rPr lang="ko-KR" altLang="en-US" dirty="0"/>
              <a:t>이상으로 </a:t>
            </a:r>
            <a:r>
              <a:rPr lang="en-US" altLang="ko-KR" dirty="0"/>
              <a:t>'AI </a:t>
            </a:r>
            <a:r>
              <a:rPr lang="ko-KR" altLang="en-US" dirty="0"/>
              <a:t>활용 얼굴 인식 자동 </a:t>
            </a:r>
            <a:r>
              <a:rPr lang="ko-KR" altLang="en-US" dirty="0" err="1"/>
              <a:t>블러</a:t>
            </a:r>
            <a:r>
              <a:rPr lang="ko-KR" altLang="en-US" dirty="0"/>
              <a:t> 처리 웹서비스</a:t>
            </a:r>
            <a:r>
              <a:rPr lang="en-US" altLang="ko-KR" dirty="0"/>
              <a:t>'</a:t>
            </a:r>
            <a:r>
              <a:rPr lang="ko-KR" altLang="en-US" dirty="0"/>
              <a:t>에 대한 발표를 마치겠습니다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지금부터는 저희가 개발한 서비스를 직접 보여드리는 </a:t>
            </a:r>
            <a:r>
              <a:rPr lang="ko-KR" altLang="en-US" b="1" dirty="0"/>
              <a:t>시연</a:t>
            </a:r>
            <a:r>
              <a:rPr lang="ko-KR" altLang="en-US" dirty="0"/>
              <a:t>을 진행하겠습니다</a:t>
            </a:r>
            <a:r>
              <a:rPr lang="en-US" altLang="ko-KR" dirty="0"/>
              <a:t>. </a:t>
            </a:r>
            <a:r>
              <a:rPr lang="ko-KR" altLang="en-US" dirty="0"/>
              <a:t>시연을 보시면서 궁금한 점이 있으시다면 편하게 질문해 주시기 바랍니다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경청해 주셔서 감사합니다</a:t>
            </a:r>
            <a:r>
              <a:rPr lang="en-US" altLang="ko-KR" dirty="0"/>
              <a:t>.“</a:t>
            </a:r>
          </a:p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17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16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3" Type="http://schemas.openxmlformats.org/officeDocument/2006/relationships/image" Target="../media/image15.png"/><Relationship Id="rId21" Type="http://schemas.openxmlformats.org/officeDocument/2006/relationships/image" Target="../media/image62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5" Type="http://schemas.openxmlformats.org/officeDocument/2006/relationships/image" Target="../media/image17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4" Type="http://schemas.openxmlformats.org/officeDocument/2006/relationships/image" Target="../media/image16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79.png"/><Relationship Id="rId3" Type="http://schemas.openxmlformats.org/officeDocument/2006/relationships/image" Target="../media/image71.png"/><Relationship Id="rId7" Type="http://schemas.openxmlformats.org/officeDocument/2006/relationships/image" Target="../media/image74.png"/><Relationship Id="rId12" Type="http://schemas.openxmlformats.org/officeDocument/2006/relationships/image" Target="../media/image41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17.png"/><Relationship Id="rId15" Type="http://schemas.openxmlformats.org/officeDocument/2006/relationships/image" Target="../media/image81.png"/><Relationship Id="rId10" Type="http://schemas.openxmlformats.org/officeDocument/2006/relationships/image" Target="../media/image77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Relationship Id="rId14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3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17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4.png"/><Relationship Id="rId18" Type="http://schemas.openxmlformats.org/officeDocument/2006/relationships/image" Target="../media/image109.png"/><Relationship Id="rId26" Type="http://schemas.openxmlformats.org/officeDocument/2006/relationships/image" Target="../media/image117.png"/><Relationship Id="rId39" Type="http://schemas.openxmlformats.org/officeDocument/2006/relationships/image" Target="../media/image130.png"/><Relationship Id="rId21" Type="http://schemas.openxmlformats.org/officeDocument/2006/relationships/image" Target="../media/image112.png"/><Relationship Id="rId34" Type="http://schemas.openxmlformats.org/officeDocument/2006/relationships/image" Target="../media/image125.png"/><Relationship Id="rId42" Type="http://schemas.openxmlformats.org/officeDocument/2006/relationships/image" Target="../media/image133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7.png"/><Relationship Id="rId20" Type="http://schemas.openxmlformats.org/officeDocument/2006/relationships/image" Target="../media/image111.png"/><Relationship Id="rId29" Type="http://schemas.openxmlformats.org/officeDocument/2006/relationships/image" Target="../media/image120.png"/><Relationship Id="rId41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24" Type="http://schemas.openxmlformats.org/officeDocument/2006/relationships/image" Target="../media/image115.png"/><Relationship Id="rId32" Type="http://schemas.openxmlformats.org/officeDocument/2006/relationships/image" Target="../media/image123.png"/><Relationship Id="rId37" Type="http://schemas.openxmlformats.org/officeDocument/2006/relationships/image" Target="../media/image128.png"/><Relationship Id="rId40" Type="http://schemas.openxmlformats.org/officeDocument/2006/relationships/image" Target="../media/image131.png"/><Relationship Id="rId5" Type="http://schemas.openxmlformats.org/officeDocument/2006/relationships/image" Target="../media/image17.png"/><Relationship Id="rId15" Type="http://schemas.openxmlformats.org/officeDocument/2006/relationships/image" Target="../media/image106.png"/><Relationship Id="rId23" Type="http://schemas.openxmlformats.org/officeDocument/2006/relationships/image" Target="../media/image114.png"/><Relationship Id="rId28" Type="http://schemas.openxmlformats.org/officeDocument/2006/relationships/image" Target="../media/image119.png"/><Relationship Id="rId36" Type="http://schemas.openxmlformats.org/officeDocument/2006/relationships/image" Target="../media/image127.png"/><Relationship Id="rId10" Type="http://schemas.openxmlformats.org/officeDocument/2006/relationships/image" Target="../media/image101.png"/><Relationship Id="rId19" Type="http://schemas.openxmlformats.org/officeDocument/2006/relationships/image" Target="../media/image110.png"/><Relationship Id="rId31" Type="http://schemas.openxmlformats.org/officeDocument/2006/relationships/image" Target="../media/image122.png"/><Relationship Id="rId4" Type="http://schemas.openxmlformats.org/officeDocument/2006/relationships/image" Target="../media/image96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113.png"/><Relationship Id="rId27" Type="http://schemas.openxmlformats.org/officeDocument/2006/relationships/image" Target="../media/image118.png"/><Relationship Id="rId30" Type="http://schemas.openxmlformats.org/officeDocument/2006/relationships/image" Target="../media/image121.png"/><Relationship Id="rId35" Type="http://schemas.openxmlformats.org/officeDocument/2006/relationships/image" Target="../media/image126.png"/><Relationship Id="rId43" Type="http://schemas.openxmlformats.org/officeDocument/2006/relationships/image" Target="../media/image134.png"/><Relationship Id="rId8" Type="http://schemas.openxmlformats.org/officeDocument/2006/relationships/image" Target="../media/image99.png"/><Relationship Id="rId3" Type="http://schemas.openxmlformats.org/officeDocument/2006/relationships/image" Target="../media/image95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5" Type="http://schemas.openxmlformats.org/officeDocument/2006/relationships/image" Target="../media/image116.png"/><Relationship Id="rId33" Type="http://schemas.openxmlformats.org/officeDocument/2006/relationships/image" Target="../media/image124.png"/><Relationship Id="rId38" Type="http://schemas.openxmlformats.org/officeDocument/2006/relationships/image" Target="../media/image1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15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7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16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5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7.png"/><Relationship Id="rId15" Type="http://schemas.openxmlformats.org/officeDocument/2006/relationships/image" Target="../media/image160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6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1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7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4" Type="http://schemas.openxmlformats.org/officeDocument/2006/relationships/image" Target="../media/image16.png"/><Relationship Id="rId9" Type="http://schemas.openxmlformats.org/officeDocument/2006/relationships/image" Target="../media/image171.png"/><Relationship Id="rId14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0" y="1981200"/>
            <a:ext cx="1143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2324100"/>
            <a:ext cx="7620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2950" y="2514600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0" y="232410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2514600"/>
            <a:ext cx="3048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324100"/>
            <a:ext cx="762000" cy="762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3288" y="2514600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80223" y="3543300"/>
            <a:ext cx="2431405" cy="1104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78363" y="49911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68100" y="6515100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58600" y="65151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849100" y="6515100"/>
            <a:ext cx="114300" cy="1143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23915" y="1371600"/>
            <a:ext cx="107440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활용 얼굴 인식 자동 블러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처리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36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웹서비스</a:t>
            </a: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구현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4911403" y="3771900"/>
            <a:ext cx="23690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졸업 프로젝트 발표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4911403" y="4152900"/>
            <a:ext cx="23690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정보보안학과 2학년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5706963" y="4953000"/>
            <a:ext cx="12078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ICT폴리텍대학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653088" y="5257800"/>
            <a:ext cx="1062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2025-10-01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0D44B-4241-EA2B-57DE-17443D481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84E2243-D94E-BC63-0960-DF81E199E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4F74A96-079F-5B2A-73AC-1BAB6C670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2E9566A6-E99D-2EAD-D40B-107CCB289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F45A5006-0972-8B3F-CEE6-D4CF85C125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11478904" cy="4876800"/>
          </a:xfrm>
          <a:prstGeom prst="rect">
            <a:avLst/>
          </a:pr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83F57E43-A7F6-9486-061B-0DCA071B94A6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목차</a:t>
            </a:r>
            <a:endParaRPr lang="en-US" sz="27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499325B-850E-35A8-C5F4-35B1824D120F}"/>
              </a:ext>
            </a:extLst>
          </p:cNvPr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4F82A0-E1D8-F3F9-7441-1718E1A9E6B1}"/>
              </a:ext>
            </a:extLst>
          </p:cNvPr>
          <p:cNvSpPr txBox="1"/>
          <p:nvPr/>
        </p:nvSpPr>
        <p:spPr>
          <a:xfrm>
            <a:off x="631209" y="1340294"/>
            <a:ext cx="3103735" cy="5578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문제 정의 및 배경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프로젝트 목표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시스템 개요 및 아키텍처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주요 기능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기술 스택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구현 화면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기대 효과 및 활용 분야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결론 및 향후 계획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시연 및 질의응답</a:t>
            </a: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20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3637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486400" cy="487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97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859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0574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019300"/>
            <a:ext cx="4724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74320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2705100"/>
            <a:ext cx="474345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42900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025" y="3390900"/>
            <a:ext cx="4676775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181100"/>
            <a:ext cx="5486400" cy="487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14097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9400" y="1485900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20574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2019300"/>
            <a:ext cx="4724400" cy="533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274320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0" y="2705100"/>
            <a:ext cx="47244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6576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3619500"/>
            <a:ext cx="4724400" cy="533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문제 정의 및 배경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104900" y="1409700"/>
            <a:ext cx="502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800" dirty="0"/>
          </a:p>
        </p:txBody>
      </p:sp>
      <p:sp>
        <p:nvSpPr>
          <p:cNvPr id="25" name="Text 2"/>
          <p:cNvSpPr/>
          <p:nvPr/>
        </p:nvSpPr>
        <p:spPr>
          <a:xfrm>
            <a:off x="1028700" y="201930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개인정보보호의 어려움: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수술실 영상 반출 시 수작업 블러 처리에 많은 시간과 노력이 낭비됩니다.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1009650" y="2705100"/>
            <a:ext cx="47434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 삭제의 불가능: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CCTV 영상이나 인터넷에 한 번 올라간 영상은 영구 삭제가 어렵습니다.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1076325" y="3390900"/>
            <a:ext cx="4676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사회적 이슈: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혐오 논란 등 이슈 영상의 무분별한 공유가 발생하며, 일반 사용자들의 사생활 침해 방지 인식 부족이 심각합니다.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7048500" y="1409700"/>
            <a:ext cx="502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배경</a:t>
            </a:r>
            <a:endParaRPr lang="en-US" sz="1800" dirty="0"/>
          </a:p>
        </p:txBody>
      </p:sp>
      <p:sp>
        <p:nvSpPr>
          <p:cNvPr id="29" name="Text 6"/>
          <p:cNvSpPr/>
          <p:nvPr/>
        </p:nvSpPr>
        <p:spPr>
          <a:xfrm>
            <a:off x="6972300" y="201930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소요: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내 얼굴을 수작업으로 블러 처리하는 것은 매우 번거롭고 시간이 오래 걸립니다.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6972300" y="2705100"/>
            <a:ext cx="4724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솔루션의 필요성: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개인정보 보호는 필수적이지만, 수작업 편집은 매우 번거롭기 때문에 자동화된 솔루션의 필요성이 대두되었습니다.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6972300" y="3619500"/>
            <a:ext cx="4724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기술의 활용: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기술을 활용한 자동 얼굴 탐지 및 블러 처리는 시간 효율성을 높일 수 있는 가능성을 제공합니다.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114300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333500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495550"/>
            <a:ext cx="17145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933700"/>
            <a:ext cx="2686050" cy="3124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8275" y="28384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81150" y="2971800"/>
            <a:ext cx="28575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5650" y="2933700"/>
            <a:ext cx="2686050" cy="3124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2925" y="28384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24375" y="29718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2933700"/>
            <a:ext cx="2686050" cy="3124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67575" y="28384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39025" y="2971800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4950" y="2933700"/>
            <a:ext cx="2686050" cy="3124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82225" y="2838450"/>
            <a:ext cx="5715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53675" y="2971800"/>
            <a:ext cx="228600" cy="304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목표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914400" y="1295400"/>
            <a:ext cx="1104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코어 목표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952500" y="1714500"/>
            <a:ext cx="1280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영상을 업로드하면 AI 기반 얼굴 탐지 및 블러 처리가 자동으로 이루어지는 웹 서비스를 제공합니다.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628650" y="2476500"/>
            <a:ext cx="1143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주요 아이디어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1006435" y="3552825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처리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571500" y="3895725"/>
            <a:ext cx="2305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사용자는 영상만 업로드하면 자동 얼굴 탐지 및 블러 처리가 이루어집니다.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4035385" y="3552825"/>
            <a:ext cx="12065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간편한 편집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3486150" y="3895725"/>
            <a:ext cx="2305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필요할 때만 간단한 편집(범위/대상 수정)을 통해 블러 처리 대상을 조정할 수 있습니다.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6721435" y="3552825"/>
            <a:ext cx="16637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원클릭 다운로드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6400800" y="3895725"/>
            <a:ext cx="2305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영상은 한 번의 클릭으로 다운로드할 수 있습니다.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9718596" y="3552825"/>
            <a:ext cx="14987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서비스</a:t>
            </a:r>
            <a:endParaRPr lang="en-US" sz="1500" dirty="0"/>
          </a:p>
        </p:txBody>
      </p:sp>
      <p:sp>
        <p:nvSpPr>
          <p:cNvPr id="31" name="Text 11"/>
          <p:cNvSpPr/>
          <p:nvPr/>
        </p:nvSpPr>
        <p:spPr>
          <a:xfrm>
            <a:off x="9315450" y="3895725"/>
            <a:ext cx="23050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공공기관, 의료기관, 일반 사용자 모두에게 간편한 웹 기반 서비스를 제공합니다.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5486400" cy="502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71600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866900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1981200"/>
            <a:ext cx="1905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543175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26574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21945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333375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4086225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420052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76250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48768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104900"/>
            <a:ext cx="5486400" cy="5029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1371600"/>
            <a:ext cx="25717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05600" y="1943100"/>
            <a:ext cx="1524000" cy="952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53300" y="2038350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906000" y="1943100"/>
            <a:ext cx="1524000" cy="952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67988" y="2038350"/>
            <a:ext cx="200025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05600" y="1790700"/>
            <a:ext cx="1524000" cy="1104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339012" y="1885950"/>
            <a:ext cx="257175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06000" y="1790700"/>
            <a:ext cx="1524000" cy="9525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567988" y="1885950"/>
            <a:ext cx="200025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29600" y="2590800"/>
            <a:ext cx="200025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05975" y="2590800"/>
            <a:ext cx="200025" cy="228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29600" y="4114800"/>
            <a:ext cx="17145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34550" y="4114800"/>
            <a:ext cx="171450" cy="228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53200" y="1790700"/>
            <a:ext cx="5029200" cy="36576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시스템 개요 및 아키텍처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009650" y="1333500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흐름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143000" y="1866900"/>
            <a:ext cx="31560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영상 업로드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1143000" y="2133600"/>
            <a:ext cx="37872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웹 서비스에 접속하여 영상을 업로드합니다.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1143000" y="2543175"/>
            <a:ext cx="38598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서버 처리</a:t>
            </a:r>
            <a:endParaRPr lang="en-US" sz="1350" dirty="0"/>
          </a:p>
        </p:txBody>
      </p:sp>
      <p:sp>
        <p:nvSpPr>
          <p:cNvPr id="37" name="Text 5"/>
          <p:cNvSpPr/>
          <p:nvPr/>
        </p:nvSpPr>
        <p:spPr>
          <a:xfrm>
            <a:off x="1143000" y="2809875"/>
            <a:ext cx="46318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서버에서 업로드된 영상의 프레임을 추출하고 얼굴을 탐지합니다.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1143000" y="321945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편집 UI</a:t>
            </a:r>
            <a:endParaRPr lang="en-US" sz="1350" dirty="0"/>
          </a:p>
        </p:txBody>
      </p:sp>
      <p:sp>
        <p:nvSpPr>
          <p:cNvPr id="39" name="Text 7"/>
          <p:cNvSpPr/>
          <p:nvPr/>
        </p:nvSpPr>
        <p:spPr>
          <a:xfrm>
            <a:off x="1143000" y="3486150"/>
            <a:ext cx="4495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UI(체크박스/타임라인)에서 탐지된 얼굴에 대한 블러 처리 여부를 수정합니다.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1143000" y="4086225"/>
            <a:ext cx="2667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최종 영상 생성</a:t>
            </a:r>
            <a:endParaRPr lang="en-US" sz="1350" dirty="0"/>
          </a:p>
        </p:txBody>
      </p:sp>
      <p:sp>
        <p:nvSpPr>
          <p:cNvPr id="41" name="Text 9"/>
          <p:cNvSpPr/>
          <p:nvPr/>
        </p:nvSpPr>
        <p:spPr>
          <a:xfrm>
            <a:off x="1143000" y="4352925"/>
            <a:ext cx="26671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후 최종 영상이 생성됩니다.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1143000" y="4762500"/>
            <a:ext cx="27189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다운로드</a:t>
            </a:r>
            <a:endParaRPr lang="en-US" sz="1350" dirty="0"/>
          </a:p>
        </p:txBody>
      </p:sp>
      <p:sp>
        <p:nvSpPr>
          <p:cNvPr id="43" name="Text 11"/>
          <p:cNvSpPr/>
          <p:nvPr/>
        </p:nvSpPr>
        <p:spPr>
          <a:xfrm>
            <a:off x="1143000" y="5029200"/>
            <a:ext cx="32627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사용자는 생성된 최종 영상을 다운로드합니다.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6924675" y="1333500"/>
            <a:ext cx="502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 다이어그램</a:t>
            </a:r>
            <a:endParaRPr lang="en-US" sz="1800" dirty="0"/>
          </a:p>
        </p:txBody>
      </p:sp>
      <p:sp>
        <p:nvSpPr>
          <p:cNvPr id="45" name="Text 13"/>
          <p:cNvSpPr/>
          <p:nvPr/>
        </p:nvSpPr>
        <p:spPr>
          <a:xfrm>
            <a:off x="6800850" y="24193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6800850" y="264795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47" name="Text 15"/>
          <p:cNvSpPr/>
          <p:nvPr/>
        </p:nvSpPr>
        <p:spPr>
          <a:xfrm>
            <a:off x="10001250" y="24193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10001250" y="264795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Flask API</a:t>
            </a:r>
            <a:endParaRPr lang="en-US" sz="900" dirty="0"/>
          </a:p>
        </p:txBody>
      </p:sp>
      <p:sp>
        <p:nvSpPr>
          <p:cNvPr id="49" name="Text 17"/>
          <p:cNvSpPr/>
          <p:nvPr/>
        </p:nvSpPr>
        <p:spPr>
          <a:xfrm>
            <a:off x="6800850" y="22669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처리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6800850" y="24955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OpenCV, FFmpeg, YOLO</a:t>
            </a:r>
            <a:endParaRPr lang="en-US" sz="900" dirty="0"/>
          </a:p>
        </p:txBody>
      </p:sp>
      <p:sp>
        <p:nvSpPr>
          <p:cNvPr id="51" name="Text 19"/>
          <p:cNvSpPr/>
          <p:nvPr/>
        </p:nvSpPr>
        <p:spPr>
          <a:xfrm>
            <a:off x="10001250" y="226695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200" dirty="0"/>
          </a:p>
        </p:txBody>
      </p:sp>
      <p:sp>
        <p:nvSpPr>
          <p:cNvPr id="52" name="Text 20"/>
          <p:cNvSpPr/>
          <p:nvPr/>
        </p:nvSpPr>
        <p:spPr>
          <a:xfrm>
            <a:off x="10001250" y="2495550"/>
            <a:ext cx="1333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</a:t>
            </a:r>
            <a:endParaRPr lang="en-US" sz="900" dirty="0"/>
          </a:p>
        </p:txBody>
      </p:sp>
      <p:sp>
        <p:nvSpPr>
          <p:cNvPr id="53" name="Text 21"/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3533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562600" cy="2533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6550" y="14097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15430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133600"/>
            <a:ext cx="510540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6670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9718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766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81100"/>
            <a:ext cx="5562600" cy="25336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3950" y="1409700"/>
            <a:ext cx="5715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5400" y="154305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133600"/>
            <a:ext cx="51054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6670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971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327660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019550"/>
            <a:ext cx="5562600" cy="25336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76550" y="4248150"/>
            <a:ext cx="571500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0" y="43815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972050"/>
            <a:ext cx="5105400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5054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58102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61150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4019550"/>
            <a:ext cx="5562600" cy="25336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43950" y="4248150"/>
            <a:ext cx="571500" cy="5715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4381500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972050"/>
            <a:ext cx="5105400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550545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5810250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6115050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주요 기능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609600" y="2133600"/>
            <a:ext cx="510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얼굴 탐지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838200" y="2628900"/>
            <a:ext cx="331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영상의 프레임 단위로 얼굴을 탐지합니다</a:t>
            </a:r>
            <a:endParaRPr lang="en-US" sz="1200" dirty="0"/>
          </a:p>
        </p:txBody>
      </p:sp>
      <p:sp>
        <p:nvSpPr>
          <p:cNvPr id="36" name="Text 3"/>
          <p:cNvSpPr/>
          <p:nvPr/>
        </p:nvSpPr>
        <p:spPr>
          <a:xfrm>
            <a:off x="838200" y="2933700"/>
            <a:ext cx="36984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탐지된 얼굴에 초록색 바운딩 박스(bbox) 표시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838200" y="3238500"/>
            <a:ext cx="184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로그 생성 및 저장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6477000" y="2133600"/>
            <a:ext cx="510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기능</a:t>
            </a:r>
            <a:endParaRPr lang="en-US" sz="1500" dirty="0"/>
          </a:p>
        </p:txBody>
      </p:sp>
      <p:sp>
        <p:nvSpPr>
          <p:cNvPr id="39" name="Text 6"/>
          <p:cNvSpPr/>
          <p:nvPr/>
        </p:nvSpPr>
        <p:spPr>
          <a:xfrm>
            <a:off x="6705600" y="2628900"/>
            <a:ext cx="312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탐지된 얼굴 리스트를 체크박스로 제공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6705600" y="2933700"/>
            <a:ext cx="312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타임라인에서 얼굴 등장 구간을 시각화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6705600" y="3238500"/>
            <a:ext cx="3048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구간의 블러 범위 적용 여부 조정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609600" y="4972050"/>
            <a:ext cx="510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진행률 표시</a:t>
            </a:r>
            <a:endParaRPr lang="en-US" sz="1500" dirty="0"/>
          </a:p>
        </p:txBody>
      </p:sp>
      <p:sp>
        <p:nvSpPr>
          <p:cNvPr id="43" name="Text 10"/>
          <p:cNvSpPr/>
          <p:nvPr/>
        </p:nvSpPr>
        <p:spPr>
          <a:xfrm>
            <a:off x="838200" y="5467350"/>
            <a:ext cx="35256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처리 상태를 실시간으로 %로 업데이트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838200" y="5772150"/>
            <a:ext cx="3728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사용자에게 처리 진행 상황을 시각적으로 표시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838200" y="6076950"/>
            <a:ext cx="268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처리 시간 및 남은 시간 예측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6477000" y="4972050"/>
            <a:ext cx="510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영상 생성 및 다운로드</a:t>
            </a:r>
            <a:endParaRPr lang="en-US" sz="1500" dirty="0"/>
          </a:p>
        </p:txBody>
      </p:sp>
      <p:sp>
        <p:nvSpPr>
          <p:cNvPr id="47" name="Text 14"/>
          <p:cNvSpPr/>
          <p:nvPr/>
        </p:nvSpPr>
        <p:spPr>
          <a:xfrm>
            <a:off x="6705600" y="5467350"/>
            <a:ext cx="417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서버에서 후처리(FFmpeg)를 통해 MP4 형식 렌더링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6705600" y="5772150"/>
            <a:ext cx="3779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처리된 최종 영상을 한 번의 클릭으로 다운로드</a:t>
            </a:r>
            <a:endParaRPr lang="en-US" sz="1200" dirty="0"/>
          </a:p>
        </p:txBody>
      </p:sp>
      <p:sp>
        <p:nvSpPr>
          <p:cNvPr id="49" name="Text 16"/>
          <p:cNvSpPr/>
          <p:nvPr/>
        </p:nvSpPr>
        <p:spPr>
          <a:xfrm>
            <a:off x="6705600" y="6076950"/>
            <a:ext cx="21641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원클릭 다운로드 기능 제공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381000" y="67818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0772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077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81100"/>
            <a:ext cx="5600700" cy="2933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181100"/>
            <a:ext cx="5600700" cy="762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1250" y="1409700"/>
            <a:ext cx="3429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181100"/>
            <a:ext cx="5600700" cy="2933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181100"/>
            <a:ext cx="560070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58200" y="14097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343400"/>
            <a:ext cx="5600700" cy="2933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343400"/>
            <a:ext cx="56007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82751" y="4572000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4343400"/>
            <a:ext cx="5600700" cy="2933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4343400"/>
            <a:ext cx="56007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34350" y="4572000"/>
            <a:ext cx="266700" cy="3048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기술 스택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2838450" y="14097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571500" y="21717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기술: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613470" y="24384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613470" y="27432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HTML/JS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571500" y="31242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571500" y="33909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표시 및 편집 UI 구현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8877300" y="1409700"/>
            <a:ext cx="822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800" dirty="0"/>
          </a:p>
        </p:txBody>
      </p:sp>
      <p:sp>
        <p:nvSpPr>
          <p:cNvPr id="25" name="Text 8"/>
          <p:cNvSpPr/>
          <p:nvPr/>
        </p:nvSpPr>
        <p:spPr>
          <a:xfrm>
            <a:off x="6400800" y="21717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기술:</a:t>
            </a:r>
            <a:endParaRPr lang="en-US" sz="1350" dirty="0"/>
          </a:p>
        </p:txBody>
      </p:sp>
      <p:sp>
        <p:nvSpPr>
          <p:cNvPr id="26" name="Text 9"/>
          <p:cNvSpPr/>
          <p:nvPr/>
        </p:nvSpPr>
        <p:spPr>
          <a:xfrm>
            <a:off x="6442770" y="24384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442770" y="27432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Flask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400800" y="31242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</a:t>
            </a:r>
            <a:endParaRPr lang="en-US" sz="1350" dirty="0"/>
          </a:p>
        </p:txBody>
      </p:sp>
      <p:sp>
        <p:nvSpPr>
          <p:cNvPr id="29" name="Text 12"/>
          <p:cNvSpPr/>
          <p:nvPr/>
        </p:nvSpPr>
        <p:spPr>
          <a:xfrm>
            <a:off x="6400800" y="33909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서버 구축 및 처리 로직 관리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2901851" y="4572000"/>
            <a:ext cx="11735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처리</a:t>
            </a:r>
            <a:endParaRPr lang="en-US" sz="1800" dirty="0"/>
          </a:p>
        </p:txBody>
      </p:sp>
      <p:sp>
        <p:nvSpPr>
          <p:cNvPr id="31" name="Text 14"/>
          <p:cNvSpPr/>
          <p:nvPr/>
        </p:nvSpPr>
        <p:spPr>
          <a:xfrm>
            <a:off x="571500" y="53340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기술:</a:t>
            </a:r>
            <a:endParaRPr lang="en-US" sz="1350" dirty="0"/>
          </a:p>
        </p:txBody>
      </p:sp>
      <p:sp>
        <p:nvSpPr>
          <p:cNvPr id="32" name="Text 15"/>
          <p:cNvSpPr/>
          <p:nvPr/>
        </p:nvSpPr>
        <p:spPr>
          <a:xfrm>
            <a:off x="613470" y="56007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OpenCV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613470" y="59055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FFmpeg</a:t>
            </a:r>
            <a:endParaRPr lang="en-US" sz="1200" dirty="0"/>
          </a:p>
        </p:txBody>
      </p:sp>
      <p:sp>
        <p:nvSpPr>
          <p:cNvPr id="34" name="Text 17"/>
          <p:cNvSpPr/>
          <p:nvPr/>
        </p:nvSpPr>
        <p:spPr>
          <a:xfrm>
            <a:off x="613470" y="62103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</a:t>
            </a:r>
            <a:endParaRPr lang="en-US" sz="1200" dirty="0"/>
          </a:p>
        </p:txBody>
      </p:sp>
      <p:sp>
        <p:nvSpPr>
          <p:cNvPr id="35" name="Text 18"/>
          <p:cNvSpPr/>
          <p:nvPr/>
        </p:nvSpPr>
        <p:spPr>
          <a:xfrm>
            <a:off x="571500" y="65913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</a:t>
            </a:r>
            <a:endParaRPr lang="en-US" sz="1350" dirty="0"/>
          </a:p>
        </p:txBody>
      </p:sp>
      <p:sp>
        <p:nvSpPr>
          <p:cNvPr id="36" name="Text 19"/>
          <p:cNvSpPr/>
          <p:nvPr/>
        </p:nvSpPr>
        <p:spPr>
          <a:xfrm>
            <a:off x="571500" y="68580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 탐지, 블러 처리, 영상 합성</a:t>
            </a:r>
            <a:endParaRPr lang="en-US" sz="1200" dirty="0"/>
          </a:p>
        </p:txBody>
      </p:sp>
      <p:sp>
        <p:nvSpPr>
          <p:cNvPr id="37" name="Text 20"/>
          <p:cNvSpPr/>
          <p:nvPr/>
        </p:nvSpPr>
        <p:spPr>
          <a:xfrm>
            <a:off x="8515350" y="4572000"/>
            <a:ext cx="1645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</a:t>
            </a:r>
            <a:endParaRPr lang="en-US" sz="1800" dirty="0"/>
          </a:p>
        </p:txBody>
      </p:sp>
      <p:sp>
        <p:nvSpPr>
          <p:cNvPr id="38" name="Text 21"/>
          <p:cNvSpPr/>
          <p:nvPr/>
        </p:nvSpPr>
        <p:spPr>
          <a:xfrm>
            <a:off x="6400800" y="53340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E2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기술:</a:t>
            </a:r>
            <a:endParaRPr lang="en-US" sz="1350" dirty="0"/>
          </a:p>
        </p:txBody>
      </p:sp>
      <p:sp>
        <p:nvSpPr>
          <p:cNvPr id="39" name="Text 22"/>
          <p:cNvSpPr/>
          <p:nvPr/>
        </p:nvSpPr>
        <p:spPr>
          <a:xfrm>
            <a:off x="6442770" y="56007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SQLite</a:t>
            </a:r>
            <a:endParaRPr lang="en-US" sz="1200" dirty="0"/>
          </a:p>
        </p:txBody>
      </p:sp>
      <p:sp>
        <p:nvSpPr>
          <p:cNvPr id="40" name="Text 23"/>
          <p:cNvSpPr/>
          <p:nvPr/>
        </p:nvSpPr>
        <p:spPr>
          <a:xfrm>
            <a:off x="6400800" y="5981700"/>
            <a:ext cx="480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7E2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역할:</a:t>
            </a:r>
            <a:endParaRPr lang="en-US" sz="1350" dirty="0"/>
          </a:p>
        </p:txBody>
      </p:sp>
      <p:sp>
        <p:nvSpPr>
          <p:cNvPr id="41" name="Text 24"/>
          <p:cNvSpPr/>
          <p:nvPr/>
        </p:nvSpPr>
        <p:spPr>
          <a:xfrm>
            <a:off x="6400800" y="62484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Job, Detection, Edit 로그 관리</a:t>
            </a:r>
            <a:endParaRPr lang="en-US" sz="1200" dirty="0"/>
          </a:p>
        </p:txBody>
      </p:sp>
      <p:sp>
        <p:nvSpPr>
          <p:cNvPr id="42" name="Text 25"/>
          <p:cNvSpPr/>
          <p:nvPr/>
        </p:nvSpPr>
        <p:spPr>
          <a:xfrm>
            <a:off x="381000" y="75057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1724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1724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57300"/>
            <a:ext cx="5410200" cy="23336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257300"/>
            <a:ext cx="54102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3716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2100" y="1371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700" y="13716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9751" y="180975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2828925"/>
            <a:ext cx="5124450" cy="31432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63292" y="291465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8400" y="1257300"/>
            <a:ext cx="5410200" cy="2333625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257300"/>
            <a:ext cx="54102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3716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87100" y="1371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5700" y="13716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8971" y="2405063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5721" y="2500313"/>
            <a:ext cx="285750" cy="2857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57221" y="2452688"/>
            <a:ext cx="333375" cy="3333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33258" y="2424113"/>
            <a:ext cx="390525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42115" y="1781175"/>
            <a:ext cx="1973461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42115" y="1819275"/>
            <a:ext cx="1333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42115" y="2162175"/>
            <a:ext cx="1333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42115" y="2466975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42115" y="2771775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33400" y="3895725"/>
            <a:ext cx="5410200" cy="34004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33400" y="3895725"/>
            <a:ext cx="54102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800" y="4010025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2100" y="401002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00700" y="4010025"/>
            <a:ext cx="1524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6275" y="4419600"/>
            <a:ext cx="5124450" cy="2667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76275" y="445770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275" y="4800600"/>
            <a:ext cx="13335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76275" y="5105400"/>
            <a:ext cx="1333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76275" y="5410200"/>
            <a:ext cx="13335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76275" y="5753100"/>
            <a:ext cx="512445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6275" y="579120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76275" y="6096000"/>
            <a:ext cx="5124450" cy="3810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6775" y="6238875"/>
            <a:ext cx="95250" cy="9525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628775" y="6238875"/>
            <a:ext cx="95250" cy="9525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581275" y="6238875"/>
            <a:ext cx="95250" cy="9525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6775" y="6286500"/>
            <a:ext cx="762000" cy="1905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628775" y="6286500"/>
            <a:ext cx="952500" cy="1905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581275" y="6286500"/>
            <a:ext cx="762000" cy="1905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76275" y="6838950"/>
            <a:ext cx="5124450" cy="314325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991296" y="6924675"/>
            <a:ext cx="114300" cy="13335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248400" y="3895725"/>
            <a:ext cx="5410200" cy="3400425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3895725"/>
            <a:ext cx="5410200" cy="3810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400800" y="4010025"/>
            <a:ext cx="152400" cy="1524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87100" y="4010025"/>
            <a:ext cx="152400" cy="152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5700" y="4010025"/>
            <a:ext cx="15240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724751" y="4981575"/>
            <a:ext cx="457200" cy="4572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391275" y="6838950"/>
            <a:ext cx="5124450" cy="314325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411617" y="6924675"/>
            <a:ext cx="133350" cy="133350"/>
          </a:xfrm>
          <a:prstGeom prst="rect">
            <a:avLst/>
          </a:prstGeom>
        </p:spPr>
      </p:pic>
      <p:sp>
        <p:nvSpPr>
          <p:cNvPr id="5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구현 화면</a:t>
            </a:r>
            <a:endParaRPr lang="en-US" sz="2700" dirty="0"/>
          </a:p>
        </p:txBody>
      </p:sp>
      <p:sp>
        <p:nvSpPr>
          <p:cNvPr id="57" name="Text 1"/>
          <p:cNvSpPr/>
          <p:nvPr/>
        </p:nvSpPr>
        <p:spPr>
          <a:xfrm>
            <a:off x="914400" y="1333500"/>
            <a:ext cx="9652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업로드</a:t>
            </a:r>
            <a:endParaRPr lang="en-US" sz="1200" dirty="0"/>
          </a:p>
        </p:txBody>
      </p:sp>
      <p:sp>
        <p:nvSpPr>
          <p:cNvPr id="58" name="Text 2"/>
          <p:cNvSpPr/>
          <p:nvPr/>
        </p:nvSpPr>
        <p:spPr>
          <a:xfrm>
            <a:off x="2090336" y="2419350"/>
            <a:ext cx="2296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업로드할 영상을 선택하세요</a:t>
            </a:r>
            <a:endParaRPr lang="en-US" sz="1200" dirty="0"/>
          </a:p>
        </p:txBody>
      </p:sp>
      <p:sp>
        <p:nvSpPr>
          <p:cNvPr id="59" name="Text 3"/>
          <p:cNvSpPr/>
          <p:nvPr/>
        </p:nvSpPr>
        <p:spPr>
          <a:xfrm>
            <a:off x="2898755" y="2905125"/>
            <a:ext cx="88904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업로드</a:t>
            </a:r>
            <a:endParaRPr lang="en-US" sz="1050" dirty="0"/>
          </a:p>
        </p:txBody>
      </p:sp>
      <p:sp>
        <p:nvSpPr>
          <p:cNvPr id="60" name="Text 4"/>
          <p:cNvSpPr/>
          <p:nvPr/>
        </p:nvSpPr>
        <p:spPr>
          <a:xfrm>
            <a:off x="676275" y="3257550"/>
            <a:ext cx="5124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업로드된 영상은 자동으로 얼굴 탐지가 시작됩니다</a:t>
            </a:r>
            <a:endParaRPr lang="en-US" sz="1050" dirty="0"/>
          </a:p>
        </p:txBody>
      </p:sp>
      <p:sp>
        <p:nvSpPr>
          <p:cNvPr id="61" name="Text 5"/>
          <p:cNvSpPr/>
          <p:nvPr/>
        </p:nvSpPr>
        <p:spPr>
          <a:xfrm>
            <a:off x="6629400" y="13335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결과</a:t>
            </a:r>
            <a:endParaRPr lang="en-US" sz="1200" dirty="0"/>
          </a:p>
        </p:txBody>
      </p:sp>
      <p:sp>
        <p:nvSpPr>
          <p:cNvPr id="62" name="Text 6"/>
          <p:cNvSpPr/>
          <p:nvPr/>
        </p:nvSpPr>
        <p:spPr>
          <a:xfrm>
            <a:off x="9751665" y="1781175"/>
            <a:ext cx="13006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탐지된 얼굴 3명</a:t>
            </a:r>
            <a:endParaRPr lang="en-US" sz="1200" dirty="0"/>
          </a:p>
        </p:txBody>
      </p:sp>
      <p:sp>
        <p:nvSpPr>
          <p:cNvPr id="63" name="Text 7"/>
          <p:cNvSpPr/>
          <p:nvPr/>
        </p:nvSpPr>
        <p:spPr>
          <a:xfrm>
            <a:off x="9751665" y="2124075"/>
            <a:ext cx="538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A</a:t>
            </a:r>
            <a:endParaRPr lang="en-US" sz="1200" dirty="0"/>
          </a:p>
        </p:txBody>
      </p:sp>
      <p:sp>
        <p:nvSpPr>
          <p:cNvPr id="64" name="Text 8"/>
          <p:cNvSpPr/>
          <p:nvPr/>
        </p:nvSpPr>
        <p:spPr>
          <a:xfrm>
            <a:off x="9751665" y="2428875"/>
            <a:ext cx="538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B</a:t>
            </a:r>
            <a:endParaRPr lang="en-US" sz="1200" dirty="0"/>
          </a:p>
        </p:txBody>
      </p:sp>
      <p:sp>
        <p:nvSpPr>
          <p:cNvPr id="65" name="Text 9"/>
          <p:cNvSpPr/>
          <p:nvPr/>
        </p:nvSpPr>
        <p:spPr>
          <a:xfrm>
            <a:off x="9751665" y="2733675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C</a:t>
            </a:r>
            <a:endParaRPr lang="en-US" sz="1200" dirty="0"/>
          </a:p>
        </p:txBody>
      </p:sp>
      <p:sp>
        <p:nvSpPr>
          <p:cNvPr id="66" name="Text 10"/>
          <p:cNvSpPr/>
          <p:nvPr/>
        </p:nvSpPr>
        <p:spPr>
          <a:xfrm>
            <a:off x="914400" y="3971925"/>
            <a:ext cx="5995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UI</a:t>
            </a:r>
            <a:endParaRPr lang="en-US" sz="1200" dirty="0"/>
          </a:p>
        </p:txBody>
      </p:sp>
      <p:sp>
        <p:nvSpPr>
          <p:cNvPr id="67" name="Text 11"/>
          <p:cNvSpPr/>
          <p:nvPr/>
        </p:nvSpPr>
        <p:spPr>
          <a:xfrm>
            <a:off x="904875" y="4419600"/>
            <a:ext cx="1615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블러 처리 대상 설정</a:t>
            </a:r>
            <a:endParaRPr lang="en-US" sz="1200" dirty="0"/>
          </a:p>
        </p:txBody>
      </p:sp>
      <p:sp>
        <p:nvSpPr>
          <p:cNvPr id="68" name="Text 12"/>
          <p:cNvSpPr/>
          <p:nvPr/>
        </p:nvSpPr>
        <p:spPr>
          <a:xfrm>
            <a:off x="885825" y="4762500"/>
            <a:ext cx="538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A</a:t>
            </a:r>
            <a:endParaRPr lang="en-US" sz="1200" dirty="0"/>
          </a:p>
        </p:txBody>
      </p:sp>
      <p:sp>
        <p:nvSpPr>
          <p:cNvPr id="69" name="Text 13"/>
          <p:cNvSpPr/>
          <p:nvPr/>
        </p:nvSpPr>
        <p:spPr>
          <a:xfrm>
            <a:off x="885825" y="5067300"/>
            <a:ext cx="5386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B</a:t>
            </a:r>
            <a:endParaRPr lang="en-US" sz="1200" dirty="0"/>
          </a:p>
        </p:txBody>
      </p:sp>
      <p:sp>
        <p:nvSpPr>
          <p:cNvPr id="70" name="Text 14"/>
          <p:cNvSpPr/>
          <p:nvPr/>
        </p:nvSpPr>
        <p:spPr>
          <a:xfrm>
            <a:off x="885825" y="53721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C</a:t>
            </a:r>
            <a:endParaRPr lang="en-US" sz="1200" dirty="0"/>
          </a:p>
        </p:txBody>
      </p:sp>
      <p:sp>
        <p:nvSpPr>
          <p:cNvPr id="71" name="Text 15"/>
          <p:cNvSpPr/>
          <p:nvPr/>
        </p:nvSpPr>
        <p:spPr>
          <a:xfrm>
            <a:off x="904875" y="57531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타임라인</a:t>
            </a:r>
            <a:endParaRPr lang="en-US" sz="1200" dirty="0"/>
          </a:p>
        </p:txBody>
      </p:sp>
      <p:sp>
        <p:nvSpPr>
          <p:cNvPr id="72" name="Text 16"/>
          <p:cNvSpPr/>
          <p:nvPr/>
        </p:nvSpPr>
        <p:spPr>
          <a:xfrm>
            <a:off x="676275" y="6515100"/>
            <a:ext cx="266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0:00</a:t>
            </a:r>
            <a:endParaRPr lang="en-US" sz="900" dirty="0"/>
          </a:p>
        </p:txBody>
      </p:sp>
      <p:sp>
        <p:nvSpPr>
          <p:cNvPr id="73" name="Text 17"/>
          <p:cNvSpPr/>
          <p:nvPr/>
        </p:nvSpPr>
        <p:spPr>
          <a:xfrm>
            <a:off x="2310259" y="6515100"/>
            <a:ext cx="266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0:30</a:t>
            </a:r>
            <a:endParaRPr lang="en-US" sz="900" dirty="0"/>
          </a:p>
        </p:txBody>
      </p:sp>
      <p:sp>
        <p:nvSpPr>
          <p:cNvPr id="74" name="Text 18"/>
          <p:cNvSpPr/>
          <p:nvPr/>
        </p:nvSpPr>
        <p:spPr>
          <a:xfrm>
            <a:off x="3944243" y="6515100"/>
            <a:ext cx="266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1:00</a:t>
            </a:r>
            <a:endParaRPr lang="en-US" sz="900" dirty="0"/>
          </a:p>
        </p:txBody>
      </p:sp>
      <p:sp>
        <p:nvSpPr>
          <p:cNvPr id="75" name="Text 19"/>
          <p:cNvSpPr/>
          <p:nvPr/>
        </p:nvSpPr>
        <p:spPr>
          <a:xfrm>
            <a:off x="5578227" y="6515100"/>
            <a:ext cx="266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1:30</a:t>
            </a:r>
            <a:endParaRPr lang="en-US" sz="900" dirty="0"/>
          </a:p>
        </p:txBody>
      </p:sp>
      <p:sp>
        <p:nvSpPr>
          <p:cNvPr id="76" name="Text 20"/>
          <p:cNvSpPr/>
          <p:nvPr/>
        </p:nvSpPr>
        <p:spPr>
          <a:xfrm>
            <a:off x="3151421" y="6915150"/>
            <a:ext cx="3645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저장</a:t>
            </a:r>
            <a:endParaRPr lang="en-US" sz="1050" dirty="0"/>
          </a:p>
        </p:txBody>
      </p:sp>
      <p:sp>
        <p:nvSpPr>
          <p:cNvPr id="77" name="Text 21"/>
          <p:cNvSpPr/>
          <p:nvPr/>
        </p:nvSpPr>
        <p:spPr>
          <a:xfrm>
            <a:off x="6629400" y="3971925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</a:t>
            </a:r>
            <a:endParaRPr lang="en-US" sz="1200" dirty="0"/>
          </a:p>
        </p:txBody>
      </p:sp>
      <p:sp>
        <p:nvSpPr>
          <p:cNvPr id="78" name="Text 22"/>
          <p:cNvSpPr/>
          <p:nvPr/>
        </p:nvSpPr>
        <p:spPr>
          <a:xfrm>
            <a:off x="7323534" y="5591175"/>
            <a:ext cx="3259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처리가 완료되었습니다</a:t>
            </a:r>
            <a:endParaRPr lang="en-US" sz="1200" dirty="0"/>
          </a:p>
        </p:txBody>
      </p:sp>
      <p:sp>
        <p:nvSpPr>
          <p:cNvPr id="79" name="Text 23"/>
          <p:cNvSpPr/>
          <p:nvPr/>
        </p:nvSpPr>
        <p:spPr>
          <a:xfrm>
            <a:off x="6997556" y="5895975"/>
            <a:ext cx="39117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 버튼을 클릭하여 최종 영상을 받으세요</a:t>
            </a:r>
            <a:endParaRPr lang="en-US" sz="1200" dirty="0"/>
          </a:p>
        </p:txBody>
      </p:sp>
      <p:sp>
        <p:nvSpPr>
          <p:cNvPr id="80" name="Text 24"/>
          <p:cNvSpPr/>
          <p:nvPr/>
        </p:nvSpPr>
        <p:spPr>
          <a:xfrm>
            <a:off x="8533745" y="6915150"/>
            <a:ext cx="10490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영상 다운로드</a:t>
            </a:r>
            <a:endParaRPr lang="en-US" sz="1050" dirty="0"/>
          </a:p>
        </p:txBody>
      </p:sp>
      <p:sp>
        <p:nvSpPr>
          <p:cNvPr id="81" name="Text 25"/>
          <p:cNvSpPr/>
          <p:nvPr/>
        </p:nvSpPr>
        <p:spPr>
          <a:xfrm>
            <a:off x="381000" y="760095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430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1562100"/>
            <a:ext cx="5600700" cy="1409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52600"/>
            <a:ext cx="233809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030" y="18859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124200"/>
            <a:ext cx="5600700" cy="1409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314700"/>
            <a:ext cx="22860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44805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143000"/>
            <a:ext cx="17145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1562100"/>
            <a:ext cx="56007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1790700"/>
            <a:ext cx="33397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15385" y="19240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2743200"/>
            <a:ext cx="5600700" cy="1028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700" y="2971800"/>
            <a:ext cx="296614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8058" y="3105150"/>
            <a:ext cx="2857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3924300"/>
            <a:ext cx="5600700" cy="1028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700" y="4152900"/>
            <a:ext cx="394246" cy="571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16873" y="4286250"/>
            <a:ext cx="285750" cy="3048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기대 효과 및 활용 분야</a:t>
            </a:r>
            <a:endParaRPr lang="en-US" sz="2700" dirty="0"/>
          </a:p>
        </p:txBody>
      </p:sp>
      <p:sp>
        <p:nvSpPr>
          <p:cNvPr id="23" name="Text 1"/>
          <p:cNvSpPr/>
          <p:nvPr/>
        </p:nvSpPr>
        <p:spPr>
          <a:xfrm>
            <a:off x="685800" y="11049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957709" y="1752600"/>
            <a:ext cx="48334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절약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957709" y="2095500"/>
            <a:ext cx="48334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 및 의료기관의 수작업 편집 부담을 감소시켜 업무 효율성을 높일 수 있습니다. 블러 처리 자동화로 인한 작업 시간 감소는 근무 시간의 90% 이상을 절약할 수 있습니다.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952500" y="33147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 보호 강화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952500" y="3657600"/>
            <a:ext cx="4838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SNS 및 커뮤니티 업로드 영상의 사생활 침해를 방지하여 개인정보 보호를 강화할 수 있습니다. 자동화된 얼굴 인식 및 블러 처리로 인한 개인정보 노출 감소로, 개인의 디지털 자산 보호에 기여합니다.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6457950" y="1104900"/>
            <a:ext cx="560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분야</a:t>
            </a:r>
            <a:endParaRPr lang="en-US" sz="1800" dirty="0"/>
          </a:p>
        </p:txBody>
      </p:sp>
      <p:sp>
        <p:nvSpPr>
          <p:cNvPr id="29" name="Text 7"/>
          <p:cNvSpPr/>
          <p:nvPr/>
        </p:nvSpPr>
        <p:spPr>
          <a:xfrm>
            <a:off x="6849070" y="1714500"/>
            <a:ext cx="48095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공공기관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6849070" y="1981200"/>
            <a:ext cx="4809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민감한 정보가 포함된 영상을 처리해야 하는 경우, 자동 블러 처리로 시간을 절약하고, 민감한 개인정보 보호에 기여합니다.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6811714" y="2895600"/>
            <a:ext cx="48468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의료기관</a:t>
            </a:r>
            <a:endParaRPr lang="en-US" sz="1350" dirty="0"/>
          </a:p>
        </p:txBody>
      </p:sp>
      <p:sp>
        <p:nvSpPr>
          <p:cNvPr id="32" name="Text 10"/>
          <p:cNvSpPr/>
          <p:nvPr/>
        </p:nvSpPr>
        <p:spPr>
          <a:xfrm>
            <a:off x="6811714" y="3162300"/>
            <a:ext cx="48468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환자의 얼굴 같은 개인정보가 포함된 의료 영상에서, 자동 블러 처리로 환자의 사생활을 보호하면서도 의료 정보의 공유를 가능하게 합니다.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6909346" y="4076700"/>
            <a:ext cx="47492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사용자</a:t>
            </a:r>
            <a:endParaRPr lang="en-US" sz="1350" dirty="0"/>
          </a:p>
        </p:txBody>
      </p:sp>
      <p:sp>
        <p:nvSpPr>
          <p:cNvPr id="34" name="Text 12"/>
          <p:cNvSpPr/>
          <p:nvPr/>
        </p:nvSpPr>
        <p:spPr>
          <a:xfrm>
            <a:off x="6909346" y="4343400"/>
            <a:ext cx="4749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영상에서의 사생활 보호를 위해, 누구나 쉽게 접근하고 사용할 수 있는 편리한 도구를 제공합니다.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104900"/>
            <a:ext cx="5562600" cy="4953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333500"/>
            <a:ext cx="34290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139065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94310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2025" y="1905000"/>
            <a:ext cx="4525566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44792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025" y="2409825"/>
            <a:ext cx="4752975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171825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025" y="3133725"/>
            <a:ext cx="3653433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981450"/>
            <a:ext cx="5105400" cy="95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3981450"/>
            <a:ext cx="5105400" cy="95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04900"/>
            <a:ext cx="5562600" cy="4953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1333500"/>
            <a:ext cx="34290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2725" y="1390650"/>
            <a:ext cx="17145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1943100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29425" y="1905000"/>
            <a:ext cx="4752975" cy="800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2933700"/>
            <a:ext cx="19050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781800" y="2895600"/>
            <a:ext cx="4800600" cy="8001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결론 및 향후 계획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066800" y="1333500"/>
            <a:ext cx="510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요약</a:t>
            </a:r>
            <a:endParaRPr lang="en-US" sz="1800" dirty="0"/>
          </a:p>
        </p:txBody>
      </p:sp>
      <p:sp>
        <p:nvSpPr>
          <p:cNvPr id="26" name="Text 2"/>
          <p:cNvSpPr/>
          <p:nvPr/>
        </p:nvSpPr>
        <p:spPr>
          <a:xfrm>
            <a:off x="1076325" y="1905000"/>
            <a:ext cx="54306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영상 개인정보 보호 시스템을 성공적으로 구현했습니다.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1076325" y="2409825"/>
            <a:ext cx="47529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기반 편집 기능을 제공하여 누구나 쉽게 사용할 수 있도록 하였습니다.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1076325" y="3133725"/>
            <a:ext cx="43841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얼굴 탐지 및 블러 처리 기능을 완료하였습니다.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609600" y="375285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완료도</a:t>
            </a:r>
            <a:endParaRPr lang="en-US" sz="1050" dirty="0"/>
          </a:p>
        </p:txBody>
      </p:sp>
      <p:sp>
        <p:nvSpPr>
          <p:cNvPr id="30" name="Text 6"/>
          <p:cNvSpPr/>
          <p:nvPr/>
        </p:nvSpPr>
        <p:spPr>
          <a:xfrm>
            <a:off x="5373886" y="3752850"/>
            <a:ext cx="4093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6934200" y="1333500"/>
            <a:ext cx="510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800" dirty="0"/>
          </a:p>
        </p:txBody>
      </p:sp>
      <p:sp>
        <p:nvSpPr>
          <p:cNvPr id="32" name="Text 8"/>
          <p:cNvSpPr/>
          <p:nvPr/>
        </p:nvSpPr>
        <p:spPr>
          <a:xfrm>
            <a:off x="6943725" y="1943100"/>
            <a:ext cx="463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정의 객체 추가 기능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6943725" y="2209800"/>
            <a:ext cx="4638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얼굴 외에 번호판, 문서 등 다른 개인정보 요소를 탐지하고 블러 처리하는 기능을 추가할 예정입니다.</a:t>
            </a:r>
            <a:endParaRPr lang="en-US" sz="1200" dirty="0"/>
          </a:p>
        </p:txBody>
      </p:sp>
      <p:sp>
        <p:nvSpPr>
          <p:cNvPr id="34" name="Text 10"/>
          <p:cNvSpPr/>
          <p:nvPr/>
        </p:nvSpPr>
        <p:spPr>
          <a:xfrm>
            <a:off x="6896100" y="29337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개인정보 요소 안내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6896100" y="3200400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내 개인정보 요소를 자동으로 식별하고 사용자에게 안내하는 기능을 구현할 예정입니다.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999" y="1181100"/>
            <a:ext cx="11436355" cy="487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4097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3" y="1514475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80035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2762250"/>
            <a:ext cx="572765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4861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3448050"/>
            <a:ext cx="572765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1719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133850"/>
            <a:ext cx="572765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485775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4819650"/>
            <a:ext cx="5533132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4400" y="5326323"/>
            <a:ext cx="4178350" cy="5334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시연 및 질의응답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1200150" y="1409700"/>
            <a:ext cx="60324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580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서비스 시연 안내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609600" y="2076450"/>
            <a:ext cx="603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지금부터 저희가 개발한 'AI 활용 얼굴 인식 자동 블러 처리 웹서비스'를 직접 시연해 보겠습니다.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1028700" y="2762250"/>
            <a:ext cx="5727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업로드: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사용자가 웹 서비스에 접속하여 영상을 업로드하는 방법을 보여드리겠습니다.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1028700" y="3448050"/>
            <a:ext cx="5727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탐지: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AI 기술을 활용해 영상 속 얼굴을 자동으로 탐지하고 블러 처리하는 과정을 설명하겠습니다.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028700" y="4133850"/>
            <a:ext cx="57276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 기능: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체크박스 및 타임라인을 통해 블러 처리 대상을 조절하는 방법을 실습하겠습니다.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1028700" y="4819650"/>
            <a:ext cx="66397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다운로드:</a:t>
            </a: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편집된 영상을 생성하고 다운로드하는 과정을 보여드리겠습니다.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679445" y="5478723"/>
            <a:ext cx="4648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"개인정보 보호는 누구나 쉽게 할 수 있어야 합니다."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381000" y="6286500"/>
            <a:ext cx="30228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얼굴 인식 자동 블러 처리 웹서비스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1980</Words>
  <Application>Microsoft Office PowerPoint</Application>
  <PresentationFormat>와이드스크린</PresentationFormat>
  <Paragraphs>245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Noto Serif KR</vt:lpstr>
      <vt:lpstr>ui-sans-serif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윤성빈</cp:lastModifiedBy>
  <cp:revision>6</cp:revision>
  <dcterms:created xsi:type="dcterms:W3CDTF">2025-10-01T04:39:42Z</dcterms:created>
  <dcterms:modified xsi:type="dcterms:W3CDTF">2025-10-01T05:38:57Z</dcterms:modified>
</cp:coreProperties>
</file>